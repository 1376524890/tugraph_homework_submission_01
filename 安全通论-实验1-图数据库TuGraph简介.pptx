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85" r:id="rId1"/>
  </p:sldMasterIdLst>
  <p:notesMasterIdLst>
    <p:notesMasterId r:id="rId31"/>
  </p:notesMasterIdLst>
  <p:handoutMasterIdLst>
    <p:handoutMasterId r:id="rId32"/>
  </p:handoutMasterIdLst>
  <p:sldIdLst>
    <p:sldId id="388" r:id="rId2"/>
    <p:sldId id="11758" r:id="rId3"/>
    <p:sldId id="11759" r:id="rId4"/>
    <p:sldId id="11370" r:id="rId5"/>
    <p:sldId id="11771" r:id="rId6"/>
    <p:sldId id="11744" r:id="rId7"/>
    <p:sldId id="11772" r:id="rId8"/>
    <p:sldId id="11746" r:id="rId9"/>
    <p:sldId id="11761" r:id="rId10"/>
    <p:sldId id="11762" r:id="rId11"/>
    <p:sldId id="11764" r:id="rId12"/>
    <p:sldId id="11763" r:id="rId13"/>
    <p:sldId id="11765" r:id="rId14"/>
    <p:sldId id="11766" r:id="rId15"/>
    <p:sldId id="11747" r:id="rId16"/>
    <p:sldId id="11767" r:id="rId17"/>
    <p:sldId id="11768" r:id="rId18"/>
    <p:sldId id="11769" r:id="rId19"/>
    <p:sldId id="11770" r:id="rId20"/>
    <p:sldId id="11773" r:id="rId21"/>
    <p:sldId id="11748" r:id="rId22"/>
    <p:sldId id="11751" r:id="rId23"/>
    <p:sldId id="11752" r:id="rId24"/>
    <p:sldId id="11745" r:id="rId25"/>
    <p:sldId id="11730" r:id="rId26"/>
    <p:sldId id="11774" r:id="rId27"/>
    <p:sldId id="11775" r:id="rId28"/>
    <p:sldId id="11776" r:id="rId29"/>
    <p:sldId id="11724" r:id="rId30"/>
  </p:sldIdLst>
  <p:sldSz cx="12192000" cy="6858000"/>
  <p:notesSz cx="7102475" cy="102330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0066"/>
    <a:srgbClr val="FFFFCC"/>
    <a:srgbClr val="FFFF99"/>
    <a:srgbClr val="CC99FF"/>
    <a:srgbClr val="CCE8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1709" autoAdjust="0"/>
  </p:normalViewPr>
  <p:slideViewPr>
    <p:cSldViewPr>
      <p:cViewPr varScale="1">
        <p:scale>
          <a:sx n="73" d="100"/>
          <a:sy n="73" d="100"/>
        </p:scale>
        <p:origin x="53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184"/>
    </p:cViewPr>
  </p:sorterViewPr>
  <p:notesViewPr>
    <p:cSldViewPr>
      <p:cViewPr varScale="1">
        <p:scale>
          <a:sx n="62" d="100"/>
          <a:sy n="62" d="100"/>
        </p:scale>
        <p:origin x="-3366" y="-90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3789A2B4-BEEA-4110-9DFB-A4011FBAC7AF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F7B97601-86F4-450B-A3E4-0013FCB14E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179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176CB825-2864-4D97-AD1F-966C1CBE1DBD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vert="horz" lIns="99057" tIns="49528" rIns="99057" bIns="4952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BACCC7A7-8263-4974-BD72-E9CBE288D8D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388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F6F5AF-3ABF-48A0-9C84-1CC6A0C4EF42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65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667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485046-7D87-4E7F-A325-275C8EC8B08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396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水印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4786322"/>
            <a:ext cx="12192000" cy="2087176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39315" y="6303971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1986" name="AutoShape 2" descr="http://img4.imgtn.bdimg.com/it/u=3550827752,935928192&amp;fm=21&amp;gp=0.jpg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水印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6322"/>
            <a:ext cx="12192000" cy="2087176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35776" y="6021289"/>
            <a:ext cx="2844800" cy="365125"/>
          </a:xfrm>
        </p:spPr>
        <p:txBody>
          <a:bodyPr/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1986" name="AutoShape 2" descr="http://img4.imgtn.bdimg.com/it/u=3550827752,935928192&amp;fm=21&amp;gp=0.jpg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prstClr val="black"/>
              </a:solidFill>
            </a:endParaRPr>
          </a:p>
        </p:txBody>
      </p:sp>
      <p:grpSp>
        <p:nvGrpSpPr>
          <p:cNvPr id="2" name="组合 25"/>
          <p:cNvGrpSpPr/>
          <p:nvPr userDrawn="1"/>
        </p:nvGrpSpPr>
        <p:grpSpPr>
          <a:xfrm>
            <a:off x="-32569" y="-93810"/>
            <a:ext cx="10891102" cy="1458139"/>
            <a:chOff x="47012" y="124730"/>
            <a:chExt cx="8168326" cy="1458139"/>
          </a:xfrm>
        </p:grpSpPr>
        <p:cxnSp>
          <p:nvCxnSpPr>
            <p:cNvPr id="16" name="直接连接符 15"/>
            <p:cNvCxnSpPr>
              <a:cxnSpLocks/>
            </p:cNvCxnSpPr>
            <p:nvPr userDrawn="1"/>
          </p:nvCxnSpPr>
          <p:spPr>
            <a:xfrm>
              <a:off x="1142976" y="1214422"/>
              <a:ext cx="7072362" cy="1588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rgbClr val="002060"/>
                  </a:gs>
                  <a:gs pos="39999">
                    <a:srgbClr val="85C2FF"/>
                  </a:gs>
                  <a:gs pos="70000">
                    <a:srgbClr val="C4D6EB"/>
                  </a:gs>
                  <a:gs pos="100000">
                    <a:srgbClr val="FFEBFA"/>
                  </a:gs>
                </a:gsLst>
                <a:path path="circle">
                  <a:fillToRect t="100000" r="100000"/>
                </a:path>
                <a:tileRect l="-100000" b="-100000"/>
              </a:gra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pic>
          <p:nvPicPr>
            <p:cNvPr id="9" name="图片 8" descr="校徽.jpg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012" y="124730"/>
              <a:ext cx="1142976" cy="1458139"/>
            </a:xfrm>
            <a:prstGeom prst="rect">
              <a:avLst/>
            </a:prstGeom>
          </p:spPr>
        </p:pic>
      </p:grpSp>
      <p:sp>
        <p:nvSpPr>
          <p:cNvPr id="12" name="标题占位符 1"/>
          <p:cNvSpPr>
            <a:spLocks noGrp="1"/>
          </p:cNvSpPr>
          <p:nvPr>
            <p:ph type="title"/>
          </p:nvPr>
        </p:nvSpPr>
        <p:spPr bwMode="auto">
          <a:xfrm>
            <a:off x="1428717" y="274638"/>
            <a:ext cx="10331912" cy="721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algn="l" defTabSz="914400" rtl="0" eaLnBrk="1" latinLnBrk="0" hangingPunct="1">
              <a:defRPr lang="zh-CN" altLang="en-US" sz="3200" b="1" kern="12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1401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F3DE0-A084-4C70-AFF5-D6668E32BB05}" type="datetimeFigureOut">
              <a:rPr lang="zh-CN" altLang="en-US" smtClean="0"/>
              <a:pPr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98C4A-4E66-44D5-82D4-A59560566C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73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13854139297@139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uGraph-family/tugraph-db/blob/master/README_CN.md" TargetMode="External"/><Relationship Id="rId2" Type="http://schemas.openxmlformats.org/officeDocument/2006/relationships/hyperlink" Target="https://tugraph.tech/?lang=zh-CN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liyun-computenest.github.io/quickstart-tugraph/" TargetMode="External"/><Relationship Id="rId2" Type="http://schemas.openxmlformats.org/officeDocument/2006/relationships/hyperlink" Target="https://account.aliyun.com/login/login.htm?oauth_callback=https://computenest.console.aliyun.com/user/cn-hangzhou/serviceInstanceCreate?ServiceId%3Dservice-7b50ea3d20e643da95bf%26ServiceVersion%3D1%26isTrial%3Dtrue&amp;clearRedirectCookie=1&amp;lang=zh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40623672/article/details/140708369" TargetMode="External"/><Relationship Id="rId2" Type="http://schemas.openxmlformats.org/officeDocument/2006/relationships/hyperlink" Target="https://github.com/TuGraph-family/tugraph-db/blob/master/docs/zh-CN/source/3.quick-start/1.preparation.md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help.aliyun.com/zh/acr/user-guide/accelerate-the-pulls-of-docker-official-images?spm=5176.30275541.J_ZGek9Blx07Hclc3Ddt9dg.1.4f002f3duSJkdk&amp;scm=20140722.S_help@@%E6%96%87%E6%A1%A3@@60750._.ID_help@@%E6%96%87%E6%A1%A3@@60750-RL_docker%E9%95%9C%E5%83%8F%E5%8A%A0%E9%80%9F%E5%99%A8%E5%9C%B0%E5%9D%80-LOC_2024SPAllResult-OR_ser-PAR1_0abb782217762636914052673e3508-V_4-PAR3_o-RE_new13-P0_0-P1_0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ugraph-family/tugraph-db/blob/master/docs/zh-CN/source/7.client-tools/5.bolt-client.md" TargetMode="Externa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uGraph-family/tugraph-db/blob/master/docs/zh-CN/source/9.olap%26procedure/1.procedure/1.procedure.md" TargetMode="Externa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077200" y="6243638"/>
            <a:ext cx="2133600" cy="457200"/>
          </a:xfrm>
        </p:spPr>
        <p:txBody>
          <a:bodyPr/>
          <a:lstStyle/>
          <a:p>
            <a:pPr>
              <a:defRPr/>
            </a:pPr>
            <a:fld id="{587E24E5-A3D4-4C7B-8685-6CBA6721A630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 altLang="zh-C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135560" y="2924944"/>
            <a:ext cx="7992888" cy="235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2400" b="1" kern="0" spc="50" dirty="0" smtClean="0">
                <a:ln w="11430"/>
                <a:latin typeface="+mn-ea"/>
                <a:cs typeface="Arial Unicode MS" pitchFamily="34" charset="-122"/>
              </a:rPr>
              <a:t>中央财经大学 </a:t>
            </a:r>
            <a:r>
              <a:rPr lang="zh-CN" altLang="en-US" sz="2400" b="1" kern="0" spc="50" dirty="0">
                <a:ln w="11430"/>
                <a:latin typeface="+mn-ea"/>
                <a:cs typeface="Arial Unicode MS" pitchFamily="34" charset="-122"/>
              </a:rPr>
              <a:t>信息</a:t>
            </a:r>
            <a:r>
              <a:rPr lang="zh-CN" altLang="en-US" sz="2400" b="1" kern="0" spc="50" dirty="0" smtClean="0">
                <a:ln w="11430"/>
                <a:latin typeface="+mn-ea"/>
                <a:cs typeface="Arial Unicode MS" pitchFamily="34" charset="-122"/>
              </a:rPr>
              <a:t>学院</a:t>
            </a:r>
            <a:endParaRPr lang="en-US" altLang="zh-CN" sz="2400" b="1" kern="0" spc="50" dirty="0" smtClean="0">
              <a:ln w="11430"/>
              <a:latin typeface="+mn-ea"/>
              <a:cs typeface="Arial Unicode MS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kern="0" spc="50" dirty="0">
                <a:ln w="11430"/>
                <a:latin typeface="+mn-ea"/>
                <a:cs typeface="Arial Unicode MS" pitchFamily="34" charset="-122"/>
              </a:rPr>
              <a:t>王卯宁 </a:t>
            </a:r>
            <a:r>
              <a:rPr lang="en-US" altLang="zh-CN" sz="2400" b="1" kern="0" spc="50" dirty="0" smtClean="0">
                <a:ln w="11430"/>
                <a:latin typeface="+mn-ea"/>
                <a:cs typeface="Arial Unicode MS" pitchFamily="34" charset="-122"/>
                <a:hlinkClick r:id="rId3"/>
              </a:rPr>
              <a:t>13854139297@139.com</a:t>
            </a:r>
            <a:endParaRPr lang="en-US" altLang="zh-CN" sz="2400" b="1" kern="0" spc="50" dirty="0" smtClean="0">
              <a:ln w="11430"/>
              <a:latin typeface="+mn-ea"/>
              <a:cs typeface="Arial Unicode MS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kern="0" spc="50" dirty="0">
              <a:ln w="11430"/>
              <a:latin typeface="+mn-ea"/>
              <a:cs typeface="Arial Unicode MS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kern="0" spc="50" dirty="0" smtClean="0">
                <a:ln w="11430"/>
                <a:latin typeface="+mn-ea"/>
                <a:cs typeface="Arial Unicode MS" pitchFamily="34" charset="-122"/>
              </a:rPr>
              <a:t>2026</a:t>
            </a:r>
            <a:r>
              <a:rPr lang="zh-CN" altLang="en-US" sz="2400" kern="0" spc="50" dirty="0" smtClean="0">
                <a:ln w="11430"/>
                <a:latin typeface="+mn-ea"/>
                <a:cs typeface="Arial Unicode MS" pitchFamily="34" charset="-122"/>
              </a:rPr>
              <a:t>年</a:t>
            </a:r>
            <a:r>
              <a:rPr lang="zh-CN" altLang="en-US" sz="2400" kern="0" spc="50" dirty="0">
                <a:ln w="11430"/>
                <a:latin typeface="+mn-ea"/>
                <a:cs typeface="Arial Unicode MS" pitchFamily="34" charset="-122"/>
              </a:rPr>
              <a:t>春</a:t>
            </a:r>
            <a:endParaRPr lang="en-US" altLang="zh-CN" sz="2400" kern="0" spc="50" dirty="0">
              <a:ln w="11430"/>
              <a:latin typeface="+mn-ea"/>
              <a:cs typeface="Arial Unicode MS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15580" y="1326617"/>
            <a:ext cx="7560840" cy="94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4400" b="1" kern="0" spc="50" dirty="0">
                <a:ln w="11430"/>
                <a:solidFill>
                  <a:schemeClr val="tx2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安全通论</a:t>
            </a:r>
            <a:endParaRPr lang="zh-CN" altLang="en-US" sz="4000" b="1" spc="30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3018" name="AutoShape 10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020" name="AutoShape 12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022" name="AutoShape 14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62" name="AutoShape 2" descr="http://read.html5.qq.com/image?src=forum&amp;q=5&amp;r=0&amp;imgflag=7&amp;imageUrl=http://mmbiz.qpic.cn/mmbiz/EQB7yFED1iaTzk42f5AQAZdTRVDG8hXiaGy1QvN0ibxoviajJF5xBvEWDp62OPicbfUAeaaWVulNuDm8Owbficb90cicg/0?wx_fmt=jpe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392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实验及作业安排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428717" y="1412776"/>
            <a:ext cx="8904312" cy="464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1.</a:t>
            </a:r>
            <a:r>
              <a:rPr lang="zh-CN" altLang="en-US" dirty="0" smtClean="0"/>
              <a:t> 图数据库</a:t>
            </a:r>
            <a:r>
              <a:rPr lang="en-US" altLang="zh-CN" dirty="0" err="1" smtClean="0"/>
              <a:t>TuGraph</a:t>
            </a:r>
            <a:r>
              <a:rPr lang="zh-CN" altLang="en-US" dirty="0" smtClean="0"/>
              <a:t>简介</a:t>
            </a:r>
            <a:endParaRPr lang="en-US" altLang="zh-CN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2. </a:t>
            </a:r>
            <a:r>
              <a:rPr lang="zh-CN" altLang="en-US" dirty="0" smtClean="0"/>
              <a:t>图查询与图算法</a:t>
            </a:r>
            <a:endParaRPr lang="en-US" altLang="zh-CN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3.</a:t>
            </a:r>
            <a:r>
              <a:rPr lang="zh-CN" altLang="en-US" dirty="0" smtClean="0"/>
              <a:t> 任务实例：网络流量分类 </a:t>
            </a:r>
            <a:endParaRPr lang="en-US" altLang="zh-CN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4.</a:t>
            </a:r>
            <a:r>
              <a:rPr lang="zh-CN" altLang="en-US" dirty="0" smtClean="0"/>
              <a:t> 任务</a:t>
            </a:r>
            <a:r>
              <a:rPr lang="zh-CN" altLang="en-US" dirty="0"/>
              <a:t>实例</a:t>
            </a:r>
            <a:r>
              <a:rPr lang="zh-CN" altLang="en-US" dirty="0" smtClean="0"/>
              <a:t>：微服务</a:t>
            </a:r>
            <a:r>
              <a:rPr lang="en-US" altLang="zh-CN" dirty="0" smtClean="0"/>
              <a:t>API</a:t>
            </a:r>
            <a:r>
              <a:rPr lang="zh-CN" altLang="en-US" dirty="0" smtClean="0"/>
              <a:t>调用行为检测</a:t>
            </a:r>
            <a:endParaRPr lang="en-US" altLang="zh-CN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5. </a:t>
            </a:r>
            <a:r>
              <a:rPr lang="zh-CN" altLang="en-US" dirty="0" smtClean="0"/>
              <a:t>全国</a:t>
            </a:r>
            <a:r>
              <a:rPr lang="zh-CN" altLang="en-US" dirty="0"/>
              <a:t>大学生信息安全</a:t>
            </a:r>
            <a:r>
              <a:rPr lang="zh-CN" altLang="en-US" dirty="0" smtClean="0"/>
              <a:t>竞赛</a:t>
            </a:r>
            <a:r>
              <a:rPr lang="en-US" altLang="zh-CN" dirty="0" smtClean="0"/>
              <a:t>-</a:t>
            </a:r>
            <a:r>
              <a:rPr lang="zh-CN" altLang="en-US" dirty="0" smtClean="0"/>
              <a:t>作品赛</a:t>
            </a:r>
            <a:endParaRPr lang="en-US" altLang="zh-CN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 smtClean="0"/>
              <a:t>以上条目每项对应一次需要提交的作业，每次作业</a:t>
            </a:r>
            <a:r>
              <a:rPr lang="en-US" altLang="zh-CN" sz="2000" dirty="0" smtClean="0"/>
              <a:t>8</a:t>
            </a:r>
            <a:r>
              <a:rPr lang="zh-CN" altLang="en-US" sz="2000" dirty="0" smtClean="0"/>
              <a:t>分，共</a:t>
            </a:r>
            <a:r>
              <a:rPr lang="en-US" altLang="zh-CN" sz="2000" dirty="0" smtClean="0"/>
              <a:t>40</a:t>
            </a:r>
            <a:r>
              <a:rPr lang="zh-CN" altLang="en-US" sz="2000" dirty="0" smtClean="0"/>
              <a:t>分。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9255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作业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839416" y="1340768"/>
            <a:ext cx="10441160" cy="464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1.</a:t>
            </a:r>
            <a:r>
              <a:rPr lang="zh-CN" altLang="en-US" dirty="0"/>
              <a:t>成功启动</a:t>
            </a:r>
            <a:r>
              <a:rPr lang="en-US" altLang="zh-CN" dirty="0" err="1" smtClean="0"/>
              <a:t>TuGraph</a:t>
            </a:r>
            <a:r>
              <a:rPr lang="zh-CN" altLang="en-US" dirty="0" smtClean="0"/>
              <a:t>平台，文字描述安装</a:t>
            </a:r>
            <a:r>
              <a:rPr lang="en-US" altLang="zh-CN" dirty="0" smtClean="0"/>
              <a:t>/</a:t>
            </a:r>
            <a:r>
              <a:rPr lang="zh-CN" altLang="en-US" dirty="0" smtClean="0"/>
              <a:t>部署步骤，展示系统登录的截图</a:t>
            </a:r>
            <a:endParaRPr lang="en-US" altLang="zh-CN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2.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Bolt</a:t>
            </a:r>
            <a:r>
              <a:rPr lang="zh-CN" altLang="en-US" dirty="0" smtClean="0"/>
              <a:t>协议导入</a:t>
            </a:r>
            <a:r>
              <a:rPr lang="en-US" altLang="zh-CN" dirty="0" smtClean="0"/>
              <a:t>/</a:t>
            </a:r>
            <a:r>
              <a:rPr lang="zh-CN" altLang="en-US" dirty="0" smtClean="0"/>
              <a:t>导出数据，通过文字、代码、截图描述步骤</a:t>
            </a:r>
            <a:endParaRPr lang="en-US" altLang="zh-CN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3.</a:t>
            </a:r>
            <a:r>
              <a:rPr lang="zh-CN" altLang="en-US" dirty="0" smtClean="0"/>
              <a:t>跑通存储过程代码示例，描述配置过程中解决了哪些问题、用的什么方法（</a:t>
            </a:r>
            <a:r>
              <a:rPr lang="zh-CN" altLang="en-US" dirty="0"/>
              <a:t>文字、代码、截</a:t>
            </a:r>
            <a:r>
              <a:rPr lang="zh-CN" altLang="en-US" dirty="0" smtClean="0"/>
              <a:t>图）</a:t>
            </a:r>
            <a:endParaRPr lang="en-US" altLang="zh-CN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4</a:t>
            </a:r>
            <a:r>
              <a:rPr lang="en-US" altLang="zh-CN" dirty="0" smtClean="0"/>
              <a:t>.</a:t>
            </a:r>
            <a:r>
              <a:rPr lang="zh-CN" altLang="en-US" dirty="0" smtClean="0"/>
              <a:t>通过</a:t>
            </a:r>
            <a:r>
              <a:rPr lang="en-US" altLang="zh-CN" dirty="0" err="1" smtClean="0"/>
              <a:t>github</a:t>
            </a:r>
            <a:r>
              <a:rPr lang="zh-CN" altLang="en-US" dirty="0" smtClean="0"/>
              <a:t>提交报告，把链接放到学习通回答中</a:t>
            </a:r>
            <a:endParaRPr lang="en-US" altLang="zh-CN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 smtClean="0"/>
              <a:t>以上各步，每步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分。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91805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2292338" y="1428737"/>
            <a:ext cx="2089151" cy="4537075"/>
            <a:chOff x="-57" y="577"/>
            <a:chExt cx="1929" cy="3311"/>
          </a:xfrm>
        </p:grpSpPr>
        <p:sp>
          <p:nvSpPr>
            <p:cNvPr id="8" name="Arc 37"/>
            <p:cNvSpPr>
              <a:spLocks/>
            </p:cNvSpPr>
            <p:nvPr/>
          </p:nvSpPr>
          <p:spPr bwMode="auto">
            <a:xfrm>
              <a:off x="-56" y="672"/>
              <a:ext cx="1832" cy="3119"/>
            </a:xfrm>
            <a:custGeom>
              <a:avLst/>
              <a:gdLst>
                <a:gd name="T0" fmla="*/ 0 w 21600"/>
                <a:gd name="T1" fmla="*/ 0 h 43174"/>
                <a:gd name="T2" fmla="*/ 0 w 21600"/>
                <a:gd name="T3" fmla="*/ 0 h 43174"/>
                <a:gd name="T4" fmla="*/ 0 w 21600"/>
                <a:gd name="T5" fmla="*/ 0 h 431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4"/>
                <a:gd name="T11" fmla="*/ 21600 w 21600"/>
                <a:gd name="T12" fmla="*/ 43174 h 43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4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</a:path>
                <a:path w="21600" h="43174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76200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" name="Arc 38"/>
            <p:cNvSpPr>
              <a:spLocks/>
            </p:cNvSpPr>
            <p:nvPr/>
          </p:nvSpPr>
          <p:spPr bwMode="auto">
            <a:xfrm>
              <a:off x="-57" y="577"/>
              <a:ext cx="1929" cy="3311"/>
            </a:xfrm>
            <a:custGeom>
              <a:avLst/>
              <a:gdLst>
                <a:gd name="T0" fmla="*/ 0 w 21600"/>
                <a:gd name="T1" fmla="*/ 0 h 43180"/>
                <a:gd name="T2" fmla="*/ 0 w 21600"/>
                <a:gd name="T3" fmla="*/ 0 h 43180"/>
                <a:gd name="T4" fmla="*/ 0 w 21600"/>
                <a:gd name="T5" fmla="*/ 0 h 4318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0"/>
                <a:gd name="T11" fmla="*/ 21600 w 21600"/>
                <a:gd name="T12" fmla="*/ 43180 h 431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0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</a:path>
                <a:path w="21600" h="43180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25400">
              <a:solidFill>
                <a:srgbClr val="FF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41986" name="AutoShape 2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AutoShape 4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0" name="AutoShape 16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2" name="AutoShape 18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4" name="AutoShape 20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6" name="AutoShape 22" descr="http://read.html5.qq.com/image?src=forum&amp;q=5&amp;r=0&amp;imgflag=7&amp;imageUrl=http://mmbiz.qpic.cn/mmbiz/EQB7yFED1iaTzk42f5AQAZdTRVDG8hXiaGy1QvN0ibxoviajJF5xBvEWDp62OPicbfUAeaaWVulNuDm8Owbficb90cicg/0?wx_fmt=jpe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2226" name="Picture 2" descr="“the trust machine”的图片搜索结果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1" y="2404918"/>
            <a:ext cx="1928825" cy="1085978"/>
          </a:xfrm>
          <a:prstGeom prst="rect">
            <a:avLst/>
          </a:prstGeom>
          <a:noFill/>
        </p:spPr>
      </p:pic>
      <p:pic>
        <p:nvPicPr>
          <p:cNvPr id="52228" name="Picture 4" descr="“the trust machine”的图片搜索结果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9720" y="3857629"/>
            <a:ext cx="1928826" cy="1085978"/>
          </a:xfrm>
          <a:prstGeom prst="rect">
            <a:avLst/>
          </a:prstGeom>
          <a:noFill/>
        </p:spPr>
      </p:pic>
      <p:sp>
        <p:nvSpPr>
          <p:cNvPr id="15" name="标题">
            <a:extLst>
              <a:ext uri="{FF2B5EF4-FFF2-40B4-BE49-F238E27FC236}">
                <a16:creationId xmlns:a16="http://schemas.microsoft.com/office/drawing/2014/main" id="{BC5DCADB-1EC7-4B38-BC8B-02FAB186980D}"/>
              </a:ext>
            </a:extLst>
          </p:cNvPr>
          <p:cNvSpPr/>
          <p:nvPr/>
        </p:nvSpPr>
        <p:spPr>
          <a:xfrm>
            <a:off x="3748296" y="933453"/>
            <a:ext cx="6884208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algn="ctr"/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图数据库</a:t>
            </a:r>
            <a:r>
              <a:rPr lang="en-US" altLang="zh-CN" sz="3600" dirty="0" err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TuGraph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简介</a:t>
            </a:r>
            <a:endParaRPr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标题">
            <a:extLst>
              <a:ext uri="{FF2B5EF4-FFF2-40B4-BE49-F238E27FC236}">
                <a16:creationId xmlns:a16="http://schemas.microsoft.com/office/drawing/2014/main" id="{E13C425C-84F4-457C-842D-EE74EEDEA997}"/>
              </a:ext>
            </a:extLst>
          </p:cNvPr>
          <p:cNvSpPr/>
          <p:nvPr/>
        </p:nvSpPr>
        <p:spPr>
          <a:xfrm>
            <a:off x="4864106" y="1916832"/>
            <a:ext cx="5577154" cy="2917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 numCol="1">
            <a:spAutoFit/>
          </a:bodyPr>
          <a:lstStyle>
            <a:lvl1pPr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en-US" altLang="zh-CN" sz="2400" b="1" kern="0" dirty="0" err="1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TuGraph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概述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安装与启动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建模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与</a:t>
            </a: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导入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存储过程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1268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2292338" y="1428737"/>
            <a:ext cx="2089151" cy="4537075"/>
            <a:chOff x="-57" y="577"/>
            <a:chExt cx="1929" cy="3311"/>
          </a:xfrm>
        </p:grpSpPr>
        <p:sp>
          <p:nvSpPr>
            <p:cNvPr id="8" name="Arc 37"/>
            <p:cNvSpPr>
              <a:spLocks/>
            </p:cNvSpPr>
            <p:nvPr/>
          </p:nvSpPr>
          <p:spPr bwMode="auto">
            <a:xfrm>
              <a:off x="-56" y="672"/>
              <a:ext cx="1832" cy="3119"/>
            </a:xfrm>
            <a:custGeom>
              <a:avLst/>
              <a:gdLst>
                <a:gd name="T0" fmla="*/ 0 w 21600"/>
                <a:gd name="T1" fmla="*/ 0 h 43174"/>
                <a:gd name="T2" fmla="*/ 0 w 21600"/>
                <a:gd name="T3" fmla="*/ 0 h 43174"/>
                <a:gd name="T4" fmla="*/ 0 w 21600"/>
                <a:gd name="T5" fmla="*/ 0 h 431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4"/>
                <a:gd name="T11" fmla="*/ 21600 w 21600"/>
                <a:gd name="T12" fmla="*/ 43174 h 43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4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</a:path>
                <a:path w="21600" h="43174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76200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" name="Arc 38"/>
            <p:cNvSpPr>
              <a:spLocks/>
            </p:cNvSpPr>
            <p:nvPr/>
          </p:nvSpPr>
          <p:spPr bwMode="auto">
            <a:xfrm>
              <a:off x="-57" y="577"/>
              <a:ext cx="1929" cy="3311"/>
            </a:xfrm>
            <a:custGeom>
              <a:avLst/>
              <a:gdLst>
                <a:gd name="T0" fmla="*/ 0 w 21600"/>
                <a:gd name="T1" fmla="*/ 0 h 43180"/>
                <a:gd name="T2" fmla="*/ 0 w 21600"/>
                <a:gd name="T3" fmla="*/ 0 h 43180"/>
                <a:gd name="T4" fmla="*/ 0 w 21600"/>
                <a:gd name="T5" fmla="*/ 0 h 4318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0"/>
                <a:gd name="T11" fmla="*/ 21600 w 21600"/>
                <a:gd name="T12" fmla="*/ 43180 h 431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0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</a:path>
                <a:path w="21600" h="43180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25400">
              <a:solidFill>
                <a:srgbClr val="FF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41986" name="AutoShape 2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AutoShape 4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0" name="AutoShape 16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2" name="AutoShape 18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4" name="AutoShape 20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6" name="AutoShape 22" descr="http://read.html5.qq.com/image?src=forum&amp;q=5&amp;r=0&amp;imgflag=7&amp;imageUrl=http://mmbiz.qpic.cn/mmbiz/EQB7yFED1iaTzk42f5AQAZdTRVDG8hXiaGy1QvN0ibxoviajJF5xBvEWDp62OPicbfUAeaaWVulNuDm8Owbficb90cicg/0?wx_fmt=jpe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2226" name="Picture 2" descr="“the trust machine”的图片搜索结果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1" y="2404918"/>
            <a:ext cx="1928825" cy="1085978"/>
          </a:xfrm>
          <a:prstGeom prst="rect">
            <a:avLst/>
          </a:prstGeom>
          <a:noFill/>
        </p:spPr>
      </p:pic>
      <p:pic>
        <p:nvPicPr>
          <p:cNvPr id="52228" name="Picture 4" descr="“the trust machine”的图片搜索结果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9720" y="3857629"/>
            <a:ext cx="1928826" cy="1085978"/>
          </a:xfrm>
          <a:prstGeom prst="rect">
            <a:avLst/>
          </a:prstGeom>
          <a:noFill/>
        </p:spPr>
      </p:pic>
      <p:sp>
        <p:nvSpPr>
          <p:cNvPr id="15" name="标题">
            <a:extLst>
              <a:ext uri="{FF2B5EF4-FFF2-40B4-BE49-F238E27FC236}">
                <a16:creationId xmlns:a16="http://schemas.microsoft.com/office/drawing/2014/main" id="{BC5DCADB-1EC7-4B38-BC8B-02FAB186980D}"/>
              </a:ext>
            </a:extLst>
          </p:cNvPr>
          <p:cNvSpPr/>
          <p:nvPr/>
        </p:nvSpPr>
        <p:spPr>
          <a:xfrm>
            <a:off x="3748296" y="933453"/>
            <a:ext cx="6884208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algn="ctr"/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图数据库</a:t>
            </a:r>
            <a:r>
              <a:rPr lang="en-US" altLang="zh-CN" sz="3600" dirty="0" err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TuGraph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简介</a:t>
            </a:r>
            <a:endParaRPr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标题">
            <a:extLst>
              <a:ext uri="{FF2B5EF4-FFF2-40B4-BE49-F238E27FC236}">
                <a16:creationId xmlns:a16="http://schemas.microsoft.com/office/drawing/2014/main" id="{E13C425C-84F4-457C-842D-EE74EEDEA997}"/>
              </a:ext>
            </a:extLst>
          </p:cNvPr>
          <p:cNvSpPr/>
          <p:nvPr/>
        </p:nvSpPr>
        <p:spPr>
          <a:xfrm>
            <a:off x="4864106" y="1916832"/>
            <a:ext cx="5577154" cy="2917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 numCol="1">
            <a:spAutoFit/>
          </a:bodyPr>
          <a:lstStyle>
            <a:lvl1pPr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en-US" altLang="zh-CN" sz="2400" b="1" kern="0" dirty="0" err="1" smtClean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TuGraph</a:t>
            </a:r>
            <a:r>
              <a:rPr lang="zh-CN" altLang="en-US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概述</a:t>
            </a:r>
            <a:endParaRPr lang="en-US" altLang="zh-CN" sz="2400" b="1" kern="0" dirty="0" smtClean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安装与启动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建模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与</a:t>
            </a: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导入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存储过程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44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TuGraph</a:t>
            </a:r>
            <a:r>
              <a:rPr lang="zh-CN" altLang="en-US" dirty="0"/>
              <a:t>概述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043222" y="1253490"/>
            <a:ext cx="10084470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/>
              <a:t>支付宝万亿业务背后的分布式图数据库：高性能图数据库</a:t>
            </a:r>
            <a:r>
              <a:rPr lang="en-US" altLang="zh-CN" sz="2000" dirty="0" err="1"/>
              <a:t>TuGraph</a:t>
            </a:r>
            <a:r>
              <a:rPr lang="zh-CN" altLang="en-US" sz="2000" dirty="0"/>
              <a:t>由蚂蚁集团和清华大学共同研发，历经蚂蚁</a:t>
            </a:r>
            <a:r>
              <a:rPr lang="en-US" altLang="zh-CN" sz="2000" dirty="0"/>
              <a:t>50</a:t>
            </a:r>
            <a:r>
              <a:rPr lang="zh-CN" altLang="en-US" sz="2000" dirty="0"/>
              <a:t>万核图计算集群和</a:t>
            </a:r>
            <a:r>
              <a:rPr lang="en-US" altLang="zh-CN" sz="2000" dirty="0"/>
              <a:t>300+</a:t>
            </a:r>
            <a:r>
              <a:rPr lang="zh-CN" altLang="en-US" sz="2000" dirty="0"/>
              <a:t>实际业务场景锤炼，在国际图数据库基准测试中多次获得性能第一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err="1" smtClean="0"/>
              <a:t>TuGraph</a:t>
            </a:r>
            <a:r>
              <a:rPr lang="zh-CN" altLang="en-US" sz="2000" dirty="0"/>
              <a:t>是一个支持大数据容量、低延迟查找和快读图分析功能的高效图数据库，包含图存储、图计算、图学习、图研发平台的完善的图技术体系，拥有业界领先规模的图集群，解决了图数据分析面临的大数据量、高吞吐率和低延迟等重大挑战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官</a:t>
            </a:r>
            <a:r>
              <a:rPr lang="zh-CN" altLang="en-US" sz="2000" dirty="0" smtClean="0"/>
              <a:t>网：</a:t>
            </a:r>
            <a:r>
              <a:rPr lang="en-US" altLang="zh-CN" sz="2000" dirty="0">
                <a:hlinkClick r:id="rId2"/>
              </a:rPr>
              <a:t>https://tugraph.tech/?</a:t>
            </a:r>
            <a:r>
              <a:rPr lang="en-US" altLang="zh-CN" sz="2000" dirty="0" smtClean="0">
                <a:hlinkClick r:id="rId2"/>
              </a:rPr>
              <a:t>lang=zh-CN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社区：</a:t>
            </a:r>
            <a:r>
              <a:rPr lang="en-US" altLang="zh-CN" sz="2000" dirty="0">
                <a:hlinkClick r:id="rId3"/>
              </a:rPr>
              <a:t>https://</a:t>
            </a:r>
            <a:r>
              <a:rPr lang="en-US" altLang="zh-CN" sz="2000" dirty="0" smtClean="0">
                <a:hlinkClick r:id="rId3"/>
              </a:rPr>
              <a:t>github.com/TuGraph-family/tugraph-db/blob/master/README_CN.md</a:t>
            </a:r>
            <a:endParaRPr lang="en-US" altLang="zh-CN" sz="2000" dirty="0" smtClean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78183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2292338" y="1428737"/>
            <a:ext cx="2089151" cy="4537075"/>
            <a:chOff x="-57" y="577"/>
            <a:chExt cx="1929" cy="3311"/>
          </a:xfrm>
        </p:grpSpPr>
        <p:sp>
          <p:nvSpPr>
            <p:cNvPr id="8" name="Arc 37"/>
            <p:cNvSpPr>
              <a:spLocks/>
            </p:cNvSpPr>
            <p:nvPr/>
          </p:nvSpPr>
          <p:spPr bwMode="auto">
            <a:xfrm>
              <a:off x="-56" y="672"/>
              <a:ext cx="1832" cy="3119"/>
            </a:xfrm>
            <a:custGeom>
              <a:avLst/>
              <a:gdLst>
                <a:gd name="T0" fmla="*/ 0 w 21600"/>
                <a:gd name="T1" fmla="*/ 0 h 43174"/>
                <a:gd name="T2" fmla="*/ 0 w 21600"/>
                <a:gd name="T3" fmla="*/ 0 h 43174"/>
                <a:gd name="T4" fmla="*/ 0 w 21600"/>
                <a:gd name="T5" fmla="*/ 0 h 431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4"/>
                <a:gd name="T11" fmla="*/ 21600 w 21600"/>
                <a:gd name="T12" fmla="*/ 43174 h 43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4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</a:path>
                <a:path w="21600" h="43174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76200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" name="Arc 38"/>
            <p:cNvSpPr>
              <a:spLocks/>
            </p:cNvSpPr>
            <p:nvPr/>
          </p:nvSpPr>
          <p:spPr bwMode="auto">
            <a:xfrm>
              <a:off x="-57" y="577"/>
              <a:ext cx="1929" cy="3311"/>
            </a:xfrm>
            <a:custGeom>
              <a:avLst/>
              <a:gdLst>
                <a:gd name="T0" fmla="*/ 0 w 21600"/>
                <a:gd name="T1" fmla="*/ 0 h 43180"/>
                <a:gd name="T2" fmla="*/ 0 w 21600"/>
                <a:gd name="T3" fmla="*/ 0 h 43180"/>
                <a:gd name="T4" fmla="*/ 0 w 21600"/>
                <a:gd name="T5" fmla="*/ 0 h 4318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0"/>
                <a:gd name="T11" fmla="*/ 21600 w 21600"/>
                <a:gd name="T12" fmla="*/ 43180 h 431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0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</a:path>
                <a:path w="21600" h="43180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25400">
              <a:solidFill>
                <a:srgbClr val="FF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41986" name="AutoShape 2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AutoShape 4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0" name="AutoShape 16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2" name="AutoShape 18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4" name="AutoShape 20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6" name="AutoShape 22" descr="http://read.html5.qq.com/image?src=forum&amp;q=5&amp;r=0&amp;imgflag=7&amp;imageUrl=http://mmbiz.qpic.cn/mmbiz/EQB7yFED1iaTzk42f5AQAZdTRVDG8hXiaGy1QvN0ibxoviajJF5xBvEWDp62OPicbfUAeaaWVulNuDm8Owbficb90cicg/0?wx_fmt=jpe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2226" name="Picture 2" descr="“the trust machine”的图片搜索结果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1" y="2404918"/>
            <a:ext cx="1928825" cy="1085978"/>
          </a:xfrm>
          <a:prstGeom prst="rect">
            <a:avLst/>
          </a:prstGeom>
          <a:noFill/>
        </p:spPr>
      </p:pic>
      <p:pic>
        <p:nvPicPr>
          <p:cNvPr id="52228" name="Picture 4" descr="“the trust machine”的图片搜索结果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9720" y="3857629"/>
            <a:ext cx="1928826" cy="1085978"/>
          </a:xfrm>
          <a:prstGeom prst="rect">
            <a:avLst/>
          </a:prstGeom>
          <a:noFill/>
        </p:spPr>
      </p:pic>
      <p:sp>
        <p:nvSpPr>
          <p:cNvPr id="15" name="标题">
            <a:extLst>
              <a:ext uri="{FF2B5EF4-FFF2-40B4-BE49-F238E27FC236}">
                <a16:creationId xmlns:a16="http://schemas.microsoft.com/office/drawing/2014/main" id="{BC5DCADB-1EC7-4B38-BC8B-02FAB186980D}"/>
              </a:ext>
            </a:extLst>
          </p:cNvPr>
          <p:cNvSpPr/>
          <p:nvPr/>
        </p:nvSpPr>
        <p:spPr>
          <a:xfrm>
            <a:off x="3748296" y="933453"/>
            <a:ext cx="6884208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algn="ctr"/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图数据库</a:t>
            </a:r>
            <a:r>
              <a:rPr lang="en-US" altLang="zh-CN" sz="3600" dirty="0" err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TuGraph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简介</a:t>
            </a:r>
            <a:endParaRPr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标题">
            <a:extLst>
              <a:ext uri="{FF2B5EF4-FFF2-40B4-BE49-F238E27FC236}">
                <a16:creationId xmlns:a16="http://schemas.microsoft.com/office/drawing/2014/main" id="{E13C425C-84F4-457C-842D-EE74EEDEA997}"/>
              </a:ext>
            </a:extLst>
          </p:cNvPr>
          <p:cNvSpPr/>
          <p:nvPr/>
        </p:nvSpPr>
        <p:spPr>
          <a:xfrm>
            <a:off x="4864106" y="1916832"/>
            <a:ext cx="5577154" cy="2917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 numCol="1">
            <a:spAutoFit/>
          </a:bodyPr>
          <a:lstStyle>
            <a:lvl1pPr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en-US" altLang="zh-CN" sz="2400" b="1" kern="0" dirty="0" err="1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TuGraph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概述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安装与启动</a:t>
            </a:r>
            <a:endParaRPr lang="en-US" altLang="zh-CN" sz="2400" b="1" kern="0" dirty="0" smtClean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建模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与</a:t>
            </a: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导入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存储过程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7845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启动</a:t>
            </a:r>
            <a:r>
              <a:rPr lang="en-US" altLang="zh-CN" dirty="0" err="1" smtClean="0"/>
              <a:t>TuGraph</a:t>
            </a:r>
            <a:r>
              <a:rPr lang="en-US" altLang="zh-CN" dirty="0"/>
              <a:t>-</a:t>
            </a:r>
            <a:r>
              <a:rPr lang="zh-CN" altLang="en-US" dirty="0" smtClean="0"/>
              <a:t>方法</a:t>
            </a:r>
            <a:r>
              <a:rPr lang="en-US" altLang="zh-CN" dirty="0" smtClean="0"/>
              <a:t>1.</a:t>
            </a:r>
            <a:r>
              <a:rPr lang="zh-CN" altLang="en-US" dirty="0"/>
              <a:t>在阿里云计算</a:t>
            </a:r>
            <a:r>
              <a:rPr lang="zh-CN" altLang="en-US" dirty="0" smtClean="0"/>
              <a:t>巢免费</a:t>
            </a:r>
            <a:r>
              <a:rPr lang="zh-CN" altLang="en-US" dirty="0"/>
              <a:t>试用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055440" y="836712"/>
            <a:ext cx="10084470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err="1" smtClean="0"/>
              <a:t>TuGraph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现在在阿里云计算巢提供免费</a:t>
            </a:r>
            <a:r>
              <a:rPr lang="zh-CN" altLang="en-US" sz="2000" dirty="0" smtClean="0"/>
              <a:t>试用， </a:t>
            </a:r>
            <a:r>
              <a:rPr lang="zh-CN" altLang="en-US" sz="2000" dirty="0"/>
              <a:t>可参见 操作指引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阿里云：</a:t>
            </a:r>
            <a:r>
              <a:rPr lang="zh-CN" altLang="en-US" sz="2000" dirty="0">
                <a:hlinkClick r:id="rId2"/>
              </a:rPr>
              <a:t>阿里云登录页 </a:t>
            </a:r>
            <a:r>
              <a:rPr lang="en-US" altLang="zh-CN" sz="2000" dirty="0">
                <a:hlinkClick r:id="rId2"/>
              </a:rPr>
              <a:t>(aliyun.com)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操作指引：</a:t>
            </a:r>
            <a:r>
              <a:rPr lang="en-US" altLang="zh-CN" sz="2000" dirty="0" err="1">
                <a:hlinkClick r:id="rId3"/>
              </a:rPr>
              <a:t>TuGraph</a:t>
            </a:r>
            <a:r>
              <a:rPr lang="zh-CN" altLang="en-US" sz="2000" dirty="0">
                <a:hlinkClick r:id="rId3"/>
              </a:rPr>
              <a:t>服务实例部署文档 </a:t>
            </a:r>
            <a:r>
              <a:rPr lang="en-US" altLang="zh-CN" sz="2000" dirty="0">
                <a:hlinkClick r:id="rId3"/>
              </a:rPr>
              <a:t>- </a:t>
            </a:r>
            <a:r>
              <a:rPr lang="en-US" altLang="zh-CN" sz="2000" dirty="0" err="1">
                <a:hlinkClick r:id="rId3"/>
              </a:rPr>
              <a:t>Aliyun</a:t>
            </a:r>
            <a:r>
              <a:rPr lang="en-US" altLang="zh-CN" sz="2000" dirty="0">
                <a:hlinkClick r:id="rId3"/>
              </a:rPr>
              <a:t> </a:t>
            </a:r>
            <a:r>
              <a:rPr lang="zh-CN" altLang="en-US" sz="2000" dirty="0">
                <a:hlinkClick r:id="rId3"/>
              </a:rPr>
              <a:t>计算巢 </a:t>
            </a:r>
            <a:r>
              <a:rPr lang="en-US" altLang="zh-CN" sz="2000" dirty="0">
                <a:hlinkClick r:id="rId3"/>
              </a:rPr>
              <a:t>x </a:t>
            </a:r>
            <a:r>
              <a:rPr lang="en-US" altLang="zh-CN" sz="2000" dirty="0" err="1">
                <a:hlinkClick r:id="rId3"/>
              </a:rPr>
              <a:t>TuGraph</a:t>
            </a:r>
            <a:r>
              <a:rPr lang="en-US" altLang="zh-CN" sz="2000" dirty="0">
                <a:hlinkClick r:id="rId3"/>
              </a:rPr>
              <a:t> (aliyun-computenest.github.io</a:t>
            </a:r>
            <a:r>
              <a:rPr lang="en-US" altLang="zh-CN" sz="2000" dirty="0" smtClean="0">
                <a:hlinkClick r:id="rId3"/>
              </a:rPr>
              <a:t>)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 smtClean="0"/>
              <a:t>注：</a:t>
            </a:r>
            <a:r>
              <a:rPr lang="en-US" altLang="zh-CN" sz="2000" dirty="0" smtClean="0"/>
              <a:t>1.</a:t>
            </a:r>
            <a:r>
              <a:rPr lang="zh-CN" altLang="en-US" sz="2000" dirty="0" smtClean="0"/>
              <a:t>阿里云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左上角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控制台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最近访问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计算巢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左侧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服务实例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试用服务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详情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查看</a:t>
            </a:r>
            <a:r>
              <a:rPr lang="en-US" altLang="zh-CN" sz="2000" dirty="0" smtClean="0"/>
              <a:t>password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browser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bolt</a:t>
            </a:r>
            <a:r>
              <a:rPr lang="zh-CN" altLang="en-US" sz="2000" dirty="0" smtClean="0"/>
              <a:t>等信息；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资源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远程连接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命令行修改配置等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smtClean="0"/>
              <a:t>2.</a:t>
            </a:r>
            <a:r>
              <a:rPr lang="zh-CN" altLang="en-US" sz="2000" dirty="0" smtClean="0"/>
              <a:t>试用期</a:t>
            </a:r>
            <a:r>
              <a:rPr lang="en-US" altLang="zh-CN" sz="2000" dirty="0" smtClean="0"/>
              <a:t>7</a:t>
            </a:r>
            <a:r>
              <a:rPr lang="zh-CN" altLang="en-US" sz="2000" dirty="0"/>
              <a:t>天</a:t>
            </a:r>
            <a:r>
              <a:rPr lang="zh-CN" altLang="en-US" sz="2000" dirty="0" smtClean="0"/>
              <a:t>，试用</a:t>
            </a:r>
            <a:r>
              <a:rPr lang="zh-CN" altLang="en-US" sz="2000" dirty="0"/>
              <a:t>到期</a:t>
            </a:r>
            <a:r>
              <a:rPr lang="zh-CN" altLang="en-US" sz="2000" dirty="0" smtClean="0"/>
              <a:t>，数据</a:t>
            </a:r>
            <a:r>
              <a:rPr lang="zh-CN" altLang="en-US" sz="2000" dirty="0"/>
              <a:t>不会</a:t>
            </a:r>
            <a:r>
              <a:rPr lang="zh-CN" altLang="en-US" sz="2000" dirty="0" smtClean="0"/>
              <a:t>保留，但可以再次试用，需要申请配额、等待审核（约</a:t>
            </a:r>
            <a:r>
              <a:rPr lang="en-US" altLang="zh-CN" sz="2000" dirty="0" smtClean="0"/>
              <a:t>24</a:t>
            </a:r>
            <a:r>
              <a:rPr lang="zh-CN" altLang="en-US" sz="2000" dirty="0" smtClean="0"/>
              <a:t>小时）、重新配置参数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smtClean="0"/>
              <a:t>3.</a:t>
            </a:r>
            <a:r>
              <a:rPr lang="zh-CN" altLang="en-US" sz="2000" dirty="0"/>
              <a:t>如何在阿里云</a:t>
            </a:r>
            <a:r>
              <a:rPr lang="en-US" altLang="zh-CN" sz="2000" dirty="0" err="1"/>
              <a:t>TuGraph</a:t>
            </a:r>
            <a:r>
              <a:rPr lang="zh-CN" altLang="en-US" sz="2000" dirty="0"/>
              <a:t>服务中添加和使用存储过程</a:t>
            </a:r>
            <a:r>
              <a:rPr lang="zh-CN" altLang="en-US" sz="2000" dirty="0" smtClean="0"/>
              <a:t>？</a:t>
            </a:r>
            <a:r>
              <a:rPr lang="en-US" altLang="zh-CN" sz="2000" dirty="0"/>
              <a:t>https://</a:t>
            </a:r>
            <a:r>
              <a:rPr lang="en-US" altLang="zh-CN" sz="2000" dirty="0" smtClean="0"/>
              <a:t>github.com/TuGraph-family/tugraph-db/issues/923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smtClean="0"/>
              <a:t>4.</a:t>
            </a:r>
            <a:r>
              <a:rPr lang="zh-CN" altLang="en-US" sz="2000" dirty="0" smtClean="0"/>
              <a:t>我遇到过的问题及解决方案：重启</a:t>
            </a:r>
            <a:r>
              <a:rPr lang="en-US" altLang="zh-CN" sz="2000" dirty="0" err="1" smtClean="0"/>
              <a:t>docker</a:t>
            </a:r>
            <a:r>
              <a:rPr lang="zh-CN" altLang="en-US" sz="2000" dirty="0" smtClean="0"/>
              <a:t>后断连、</a:t>
            </a:r>
            <a:r>
              <a:rPr lang="en-US" altLang="zh-CN" sz="2000" dirty="0" smtClean="0"/>
              <a:t>Docker</a:t>
            </a:r>
            <a:r>
              <a:rPr lang="zh-CN" altLang="en-US" sz="2000" dirty="0" smtClean="0"/>
              <a:t>容器中</a:t>
            </a:r>
            <a:r>
              <a:rPr lang="en-US" altLang="zh-CN" sz="2000" dirty="0" smtClean="0"/>
              <a:t>python3</a:t>
            </a:r>
            <a:r>
              <a:rPr lang="zh-CN" altLang="en-US" sz="2000" dirty="0" smtClean="0"/>
              <a:t>路径有误、</a:t>
            </a:r>
            <a:r>
              <a:rPr lang="zh-CN" altLang="en-US" sz="2000" dirty="0"/>
              <a:t>缺少 </a:t>
            </a:r>
            <a:r>
              <a:rPr lang="en-US" altLang="zh-CN" sz="2000" dirty="0" err="1" smtClean="0"/>
              <a:t>cython</a:t>
            </a:r>
            <a:r>
              <a:rPr lang="zh-CN" altLang="en-US" sz="2000" dirty="0" smtClean="0"/>
              <a:t>、</a:t>
            </a:r>
            <a:r>
              <a:rPr lang="zh-CN" altLang="en-US" sz="2000" dirty="0"/>
              <a:t>缺少 </a:t>
            </a:r>
            <a:r>
              <a:rPr lang="en-US" altLang="zh-CN" sz="2000" dirty="0"/>
              <a:t>C++ </a:t>
            </a:r>
            <a:r>
              <a:rPr lang="zh-CN" altLang="en-US" sz="2000" dirty="0" smtClean="0"/>
              <a:t>编译器或版本不适</a:t>
            </a:r>
            <a:r>
              <a:rPr lang="zh-CN" altLang="en-US" sz="2000" dirty="0"/>
              <a:t>配、链接器</a:t>
            </a:r>
            <a:r>
              <a:rPr lang="zh-CN" altLang="en-US" sz="2000" dirty="0" smtClean="0"/>
              <a:t>找不到</a:t>
            </a:r>
            <a:r>
              <a:rPr lang="en-US" altLang="zh-CN" sz="2000" dirty="0" err="1" smtClean="0"/>
              <a:t>TuGraph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核心 </a:t>
            </a:r>
            <a:r>
              <a:rPr lang="en-US" altLang="zh-CN" sz="2000" dirty="0"/>
              <a:t>C++ </a:t>
            </a:r>
            <a:r>
              <a:rPr lang="zh-CN" altLang="en-US" sz="2000" dirty="0"/>
              <a:t>动态库 </a:t>
            </a:r>
            <a:r>
              <a:rPr lang="en-US" altLang="zh-CN" sz="2000" dirty="0" smtClean="0"/>
              <a:t>liblgraph.so</a:t>
            </a:r>
            <a:r>
              <a:rPr lang="zh-CN" altLang="en-US" sz="2000" dirty="0" smtClean="0"/>
              <a:t>、</a:t>
            </a:r>
            <a:r>
              <a:rPr lang="en-US" altLang="zh-CN" sz="2000" dirty="0"/>
              <a:t>No module named '</a:t>
            </a:r>
            <a:r>
              <a:rPr lang="en-US" altLang="zh-CN" sz="2000" dirty="0" err="1"/>
              <a:t>liblgraph_python_api</a:t>
            </a:r>
            <a:r>
              <a:rPr lang="en-US" altLang="zh-CN" sz="2000" dirty="0"/>
              <a:t>'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144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62736" y="857250"/>
            <a:ext cx="6858000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5883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41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50" y="1268760"/>
            <a:ext cx="11042079" cy="531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78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043221" y="1253490"/>
            <a:ext cx="10717407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/>
              <a:t>1.</a:t>
            </a:r>
            <a:r>
              <a:rPr lang="zh-CN" altLang="en-US" sz="2000" dirty="0" smtClean="0"/>
              <a:t>重启</a:t>
            </a:r>
            <a:r>
              <a:rPr lang="en-US" altLang="zh-CN" sz="2000" dirty="0" err="1" smtClean="0"/>
              <a:t>docker</a:t>
            </a:r>
            <a:r>
              <a:rPr lang="zh-CN" altLang="en-US" sz="2000" dirty="0"/>
              <a:t>后断连：如果</a:t>
            </a:r>
            <a:r>
              <a:rPr lang="en-US" altLang="zh-CN" sz="2000" dirty="0"/>
              <a:t>browser</a:t>
            </a:r>
            <a:r>
              <a:rPr lang="zh-CN" altLang="en-US" sz="2000" dirty="0"/>
              <a:t>显示断开连接的话，在宿主机上用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</a:t>
            </a:r>
            <a:r>
              <a:rPr lang="en-US" altLang="zh-CN" sz="2000" dirty="0" err="1"/>
              <a:t>docker</a:t>
            </a:r>
            <a:r>
              <a:rPr lang="en-US" altLang="zh-CN" sz="2000" dirty="0"/>
              <a:t> exec -it </a:t>
            </a:r>
            <a:r>
              <a:rPr lang="en-US" altLang="zh-CN" sz="2000" dirty="0" err="1"/>
              <a:t>tugraph_demo</a:t>
            </a:r>
            <a:r>
              <a:rPr lang="en-US" altLang="zh-CN" sz="2000" dirty="0"/>
              <a:t> bash</a:t>
            </a:r>
            <a:r>
              <a:rPr lang="zh-CN" altLang="en-US" sz="2000" dirty="0"/>
              <a:t>进到镜像里面再</a:t>
            </a:r>
            <a:r>
              <a:rPr lang="zh-CN" altLang="en-US" sz="2000" dirty="0" smtClean="0"/>
              <a:t>用</a:t>
            </a:r>
            <a:r>
              <a:rPr lang="en-US" altLang="zh-CN" sz="2000" dirty="0" err="1"/>
              <a:t>lgraph_server</a:t>
            </a:r>
            <a:r>
              <a:rPr lang="en-US" altLang="zh-CN" sz="2000" dirty="0"/>
              <a:t> -d restart</a:t>
            </a:r>
            <a:r>
              <a:rPr lang="zh-CN" altLang="en-US" sz="2000" dirty="0" smtClean="0"/>
              <a:t>命令</a:t>
            </a:r>
            <a:r>
              <a:rPr lang="zh-CN" altLang="en-US" sz="2000" dirty="0"/>
              <a:t>重启</a:t>
            </a:r>
            <a:r>
              <a:rPr lang="en-US" altLang="zh-CN" sz="2000" dirty="0" err="1"/>
              <a:t>TuGraph</a:t>
            </a:r>
            <a:r>
              <a:rPr lang="en-US" altLang="zh-CN" sz="2000" dirty="0"/>
              <a:t> </a:t>
            </a:r>
            <a:r>
              <a:rPr lang="zh-CN" altLang="en-US" sz="2000" dirty="0"/>
              <a:t>服务。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2.Docker </a:t>
            </a:r>
            <a:r>
              <a:rPr lang="zh-CN" altLang="en-US" sz="2000" dirty="0"/>
              <a:t>容器</a:t>
            </a:r>
            <a:r>
              <a:rPr lang="zh-CN" altLang="en-US" sz="2000" dirty="0" smtClean="0"/>
              <a:t>中</a:t>
            </a:r>
            <a:r>
              <a:rPr lang="en-US" altLang="zh-CN" sz="2000" dirty="0"/>
              <a:t>python3</a:t>
            </a:r>
            <a:r>
              <a:rPr lang="zh-CN" altLang="en-US" sz="2000" dirty="0" smtClean="0"/>
              <a:t>路径有问题：用</a:t>
            </a:r>
            <a:r>
              <a:rPr lang="en-US" altLang="zh-CN" sz="2000" dirty="0" smtClean="0"/>
              <a:t>which/find</a:t>
            </a:r>
            <a:r>
              <a:rPr lang="zh-CN" altLang="en-US" sz="2000" dirty="0" smtClean="0"/>
              <a:t>命令找</a:t>
            </a:r>
            <a:r>
              <a:rPr lang="en-US" altLang="zh-CN" sz="2000" dirty="0" smtClean="0"/>
              <a:t>python3</a:t>
            </a:r>
            <a:r>
              <a:rPr lang="zh-CN" altLang="en-US" sz="2000" dirty="0" smtClean="0"/>
              <a:t>所在文件夹并与</a:t>
            </a:r>
            <a:r>
              <a:rPr lang="en-US" altLang="zh-CN" sz="2000" dirty="0" smtClean="0"/>
              <a:t>local</a:t>
            </a:r>
            <a:r>
              <a:rPr lang="zh-CN" altLang="en-US" sz="2000" dirty="0" smtClean="0"/>
              <a:t>路径建立软连接、修改环境变量</a:t>
            </a:r>
            <a:r>
              <a:rPr lang="en-US" altLang="zh-CN" sz="2000" dirty="0" smtClean="0"/>
              <a:t>PATH</a:t>
            </a:r>
            <a:r>
              <a:rPr lang="zh-CN" altLang="en-US" sz="2000" dirty="0" smtClean="0"/>
              <a:t>等；没有</a:t>
            </a:r>
            <a:r>
              <a:rPr lang="en-US" altLang="zh-CN" sz="2000" dirty="0" smtClean="0"/>
              <a:t>which/find</a:t>
            </a:r>
            <a:r>
              <a:rPr lang="zh-CN" altLang="en-US" sz="2000" dirty="0" smtClean="0"/>
              <a:t>命令的话，用</a:t>
            </a:r>
            <a:r>
              <a:rPr lang="en-US" altLang="zh-CN" sz="2000" dirty="0" smtClean="0"/>
              <a:t>ls </a:t>
            </a:r>
            <a:r>
              <a:rPr lang="en-US" altLang="zh-CN" sz="2000" dirty="0"/>
              <a:t>-l /</a:t>
            </a:r>
            <a:r>
              <a:rPr lang="en-US" altLang="zh-CN" sz="2000" dirty="0" err="1"/>
              <a:t>usr</a:t>
            </a:r>
            <a:r>
              <a:rPr lang="en-US" altLang="zh-CN" sz="2000" dirty="0"/>
              <a:t>/bin/python* /</a:t>
            </a:r>
            <a:r>
              <a:rPr lang="en-US" altLang="zh-CN" sz="2000" dirty="0" err="1"/>
              <a:t>usr</a:t>
            </a:r>
            <a:r>
              <a:rPr lang="en-US" altLang="zh-CN" sz="2000" dirty="0"/>
              <a:t>/local/bin/python* 2&gt;/</a:t>
            </a:r>
            <a:r>
              <a:rPr lang="en-US" altLang="zh-CN" sz="2000" dirty="0" smtClean="0"/>
              <a:t>dev/null</a:t>
            </a:r>
            <a:r>
              <a:rPr lang="zh-CN" altLang="en-US" sz="2000" dirty="0"/>
              <a:t> 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3.</a:t>
            </a:r>
            <a:r>
              <a:rPr lang="zh-CN" altLang="en-US" sz="2000" dirty="0" smtClean="0"/>
              <a:t>缺少 </a:t>
            </a:r>
            <a:r>
              <a:rPr lang="en-US" altLang="zh-CN" sz="2000" dirty="0" err="1"/>
              <a:t>cython</a:t>
            </a:r>
            <a:r>
              <a:rPr lang="en-US" altLang="zh-CN" sz="2000" dirty="0"/>
              <a:t> </a:t>
            </a:r>
            <a:r>
              <a:rPr lang="zh-CN" altLang="en-US" sz="2000" dirty="0"/>
              <a:t>命令行</a:t>
            </a:r>
            <a:r>
              <a:rPr lang="zh-CN" altLang="en-US" sz="2000" dirty="0" smtClean="0"/>
              <a:t>工具：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pip3 </a:t>
            </a:r>
            <a:r>
              <a:rPr lang="en-US" altLang="zh-CN" sz="2000" dirty="0"/>
              <a:t>install </a:t>
            </a:r>
            <a:r>
              <a:rPr lang="en-US" altLang="zh-CN" sz="2000" dirty="0" err="1"/>
              <a:t>cython</a:t>
            </a:r>
            <a:r>
              <a:rPr lang="en-US" altLang="zh-CN" sz="2000" dirty="0"/>
              <a:t> 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4.</a:t>
            </a:r>
            <a:r>
              <a:rPr lang="zh-CN" altLang="en-US" sz="2000" dirty="0" smtClean="0"/>
              <a:t>缺少 </a:t>
            </a:r>
            <a:r>
              <a:rPr lang="en-US" altLang="zh-CN" sz="2000" dirty="0"/>
              <a:t>C++ </a:t>
            </a:r>
            <a:r>
              <a:rPr lang="zh-CN" altLang="en-US" sz="2000" dirty="0" smtClean="0"/>
              <a:t>编译器或版本不适配：</a:t>
            </a:r>
            <a:r>
              <a:rPr lang="en-US" altLang="zh-CN" sz="2000" dirty="0" smtClean="0"/>
              <a:t>yum</a:t>
            </a:r>
            <a:r>
              <a:rPr lang="zh-CN" altLang="en-US" sz="2000" dirty="0" smtClean="0"/>
              <a:t>安装（可能需要换</a:t>
            </a:r>
            <a:r>
              <a:rPr lang="en-US" altLang="zh-CN" sz="2000" dirty="0" smtClean="0"/>
              <a:t>yum</a:t>
            </a:r>
            <a:r>
              <a:rPr lang="zh-CN" altLang="en-US" sz="2000" dirty="0" smtClean="0"/>
              <a:t>源）。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5.</a:t>
            </a:r>
            <a:r>
              <a:rPr lang="zh-CN" altLang="en-US" sz="2000" dirty="0" smtClean="0"/>
              <a:t>找不到 </a:t>
            </a:r>
            <a:r>
              <a:rPr lang="en-US" altLang="zh-CN" sz="2000" dirty="0" smtClean="0"/>
              <a:t>liblgraph.so</a:t>
            </a:r>
            <a:r>
              <a:rPr lang="zh-CN" altLang="en-US" sz="2000" dirty="0" smtClean="0"/>
              <a:t>、</a:t>
            </a:r>
            <a:r>
              <a:rPr lang="en-US" altLang="zh-CN" sz="2000" dirty="0" err="1" smtClean="0"/>
              <a:t>liblgraph_python_api</a:t>
            </a:r>
            <a:r>
              <a:rPr lang="zh-CN" altLang="en-US" sz="2000" dirty="0"/>
              <a:t>：路径软连接、将路径加入 </a:t>
            </a:r>
            <a:r>
              <a:rPr lang="en-US" altLang="zh-CN" sz="2000" dirty="0"/>
              <a:t>Python </a:t>
            </a:r>
            <a:r>
              <a:rPr lang="zh-CN" altLang="en-US" sz="2000" dirty="0"/>
              <a:t>搜索</a:t>
            </a:r>
            <a:r>
              <a:rPr lang="zh-CN" altLang="en-US" sz="2000" dirty="0" smtClean="0"/>
              <a:t>环境。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494975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17" y="1124744"/>
            <a:ext cx="7905750" cy="2981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673" y="4265217"/>
            <a:ext cx="786765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64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196752"/>
            <a:ext cx="8029575" cy="3038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56" y="2082565"/>
            <a:ext cx="5629275" cy="3314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181" y="2998323"/>
            <a:ext cx="66675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16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700808"/>
            <a:ext cx="4667250" cy="3267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126" y="2996952"/>
            <a:ext cx="790575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75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启动</a:t>
            </a:r>
            <a:r>
              <a:rPr lang="en-US" altLang="zh-CN" dirty="0" err="1"/>
              <a:t>TuGraph</a:t>
            </a:r>
            <a:r>
              <a:rPr lang="en-US" altLang="zh-CN" dirty="0"/>
              <a:t>-</a:t>
            </a:r>
            <a:r>
              <a:rPr lang="zh-CN" altLang="en-US" dirty="0" smtClean="0"/>
              <a:t>方法</a:t>
            </a:r>
            <a:r>
              <a:rPr lang="en-US" altLang="zh-CN" dirty="0" smtClean="0"/>
              <a:t>2.</a:t>
            </a:r>
            <a:r>
              <a:rPr lang="zh-CN" altLang="en-US" dirty="0" smtClean="0"/>
              <a:t>在自己的电脑上安装</a:t>
            </a:r>
            <a:r>
              <a:rPr lang="en-US" altLang="zh-CN" dirty="0" err="1" smtClean="0"/>
              <a:t>TuGraph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055440" y="963064"/>
            <a:ext cx="10084470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 smtClean="0"/>
              <a:t>参考步骤：</a:t>
            </a:r>
            <a:r>
              <a:rPr lang="en-US" altLang="zh-CN" sz="2000" dirty="0">
                <a:hlinkClick r:id="rId2"/>
              </a:rPr>
              <a:t>tugraph-db/docs/zh-CN/source/3.quick-start/1.preparation.md at master · </a:t>
            </a:r>
            <a:r>
              <a:rPr lang="en-US" altLang="zh-CN" sz="2000" dirty="0" err="1">
                <a:hlinkClick r:id="rId2"/>
              </a:rPr>
              <a:t>TuGraph</a:t>
            </a:r>
            <a:r>
              <a:rPr lang="en-US" altLang="zh-CN" sz="2000" dirty="0">
                <a:hlinkClick r:id="rId2"/>
              </a:rPr>
              <a:t>-family/</a:t>
            </a:r>
            <a:r>
              <a:rPr lang="en-US" altLang="zh-CN" sz="2000" dirty="0" err="1">
                <a:hlinkClick r:id="rId2"/>
              </a:rPr>
              <a:t>tugraph-db</a:t>
            </a:r>
            <a:r>
              <a:rPr lang="en-US" altLang="zh-CN" sz="2000" dirty="0">
                <a:hlinkClick r:id="rId2"/>
              </a:rPr>
              <a:t> (github.com)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smtClean="0"/>
              <a:t>Windows</a:t>
            </a:r>
            <a:r>
              <a:rPr lang="zh-CN" altLang="en-US" sz="2000" dirty="0"/>
              <a:t>系统搭建</a:t>
            </a:r>
            <a:r>
              <a:rPr lang="en-US" altLang="zh-CN" sz="2000" dirty="0" smtClean="0"/>
              <a:t>Docker</a:t>
            </a:r>
            <a:r>
              <a:rPr lang="zh-CN" altLang="en-US" sz="2000" dirty="0" smtClean="0"/>
              <a:t>：</a:t>
            </a:r>
            <a:r>
              <a:rPr lang="en-US" altLang="zh-CN" sz="2000" dirty="0">
                <a:hlinkClick r:id="rId3"/>
              </a:rPr>
              <a:t>https://</a:t>
            </a:r>
            <a:r>
              <a:rPr lang="en-US" altLang="zh-CN" sz="2000" dirty="0" smtClean="0">
                <a:hlinkClick r:id="rId3"/>
              </a:rPr>
              <a:t>blog.csdn.net/qq_40623672/article/details/140708369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拉取</a:t>
            </a:r>
            <a:r>
              <a:rPr lang="zh-CN" altLang="en-US" sz="2000" dirty="0" smtClean="0"/>
              <a:t>镜像</a:t>
            </a:r>
            <a:r>
              <a:rPr lang="en-US" altLang="zh-CN" sz="2000" dirty="0" err="1" smtClean="0"/>
              <a:t>docker</a:t>
            </a:r>
            <a:r>
              <a:rPr lang="en-US" altLang="zh-CN" sz="2000" dirty="0" smtClean="0"/>
              <a:t> pull tugraph-runtime-ubuntu18.04</a:t>
            </a:r>
            <a:r>
              <a:rPr lang="zh-CN" altLang="en-US" sz="2000" dirty="0" smtClean="0"/>
              <a:t>、镜像加速：</a:t>
            </a:r>
            <a:r>
              <a:rPr lang="zh-CN" altLang="en-US" sz="2000" dirty="0">
                <a:hlinkClick r:id="rId4"/>
              </a:rPr>
              <a:t>配置官方镜像加速器加速拉取</a:t>
            </a:r>
            <a:r>
              <a:rPr lang="en-US" altLang="zh-CN" sz="2000" dirty="0">
                <a:hlinkClick r:id="rId4"/>
              </a:rPr>
              <a:t>Docker Hub</a:t>
            </a:r>
            <a:r>
              <a:rPr lang="zh-CN" altLang="en-US" sz="2000" dirty="0">
                <a:hlinkClick r:id="rId4"/>
              </a:rPr>
              <a:t>镜像</a:t>
            </a:r>
            <a:r>
              <a:rPr lang="en-US" altLang="zh-CN" sz="2000" dirty="0">
                <a:hlinkClick r:id="rId4"/>
              </a:rPr>
              <a:t>-</a:t>
            </a:r>
            <a:r>
              <a:rPr lang="zh-CN" altLang="en-US" sz="2000" dirty="0">
                <a:hlinkClick r:id="rId4"/>
              </a:rPr>
              <a:t>容器镜像服务</a:t>
            </a:r>
            <a:r>
              <a:rPr lang="en-US" altLang="zh-CN" sz="2000" dirty="0">
                <a:hlinkClick r:id="rId4"/>
              </a:rPr>
              <a:t>-</a:t>
            </a:r>
            <a:r>
              <a:rPr lang="zh-CN" altLang="en-US" sz="2000" dirty="0">
                <a:hlinkClick r:id="rId4"/>
              </a:rPr>
              <a:t>阿里云 </a:t>
            </a:r>
            <a:r>
              <a:rPr lang="en-US" altLang="zh-CN" sz="2000" dirty="0">
                <a:hlinkClick r:id="rId4"/>
              </a:rPr>
              <a:t>(aliyun.com</a:t>
            </a:r>
            <a:r>
              <a:rPr lang="en-US" altLang="zh-CN" sz="2000" dirty="0" smtClean="0">
                <a:hlinkClick r:id="rId4"/>
              </a:rPr>
              <a:t>)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常见</a:t>
            </a:r>
            <a:r>
              <a:rPr lang="zh-CN" altLang="en-US" sz="2000" dirty="0" smtClean="0"/>
              <a:t>问题：</a:t>
            </a:r>
            <a:r>
              <a:rPr lang="en-US" altLang="zh-CN" sz="2000" dirty="0" smtClean="0"/>
              <a:t>1.Win</a:t>
            </a:r>
            <a:r>
              <a:rPr lang="zh-CN" altLang="en-US" sz="2000" dirty="0" smtClean="0"/>
              <a:t>版</a:t>
            </a:r>
            <a:r>
              <a:rPr lang="en-US" altLang="zh-CN" sz="2000" dirty="0" smtClean="0"/>
              <a:t>Docker</a:t>
            </a:r>
            <a:r>
              <a:rPr lang="zh-CN" altLang="en-US" sz="2000" dirty="0" smtClean="0"/>
              <a:t>软件不稳定，出现各种问题，如安装后没有图标、重启电脑后桌面上图标没了、双击后图标后未弹出界面等：把</a:t>
            </a:r>
            <a:r>
              <a:rPr lang="en-US" altLang="zh-CN" sz="2000" dirty="0"/>
              <a:t>Docker</a:t>
            </a:r>
            <a:r>
              <a:rPr lang="zh-CN" altLang="en-US" sz="2000" dirty="0" smtClean="0"/>
              <a:t>删了重装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2.</a:t>
            </a:r>
            <a:r>
              <a:rPr lang="zh-CN" altLang="en-US" sz="2000" dirty="0" smtClean="0"/>
              <a:t>删了重装后仍出现问题：重新下载另一版本</a:t>
            </a:r>
            <a:r>
              <a:rPr lang="en-US" altLang="zh-CN" sz="2000" dirty="0" smtClean="0"/>
              <a:t>Docker</a:t>
            </a:r>
            <a:r>
              <a:rPr lang="zh-CN" altLang="en-US" sz="2000" dirty="0" smtClean="0"/>
              <a:t>，继续重装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3.</a:t>
            </a:r>
            <a:r>
              <a:rPr lang="zh-CN" altLang="en-US" sz="2000" dirty="0" smtClean="0"/>
              <a:t>启动</a:t>
            </a:r>
            <a:r>
              <a:rPr lang="en-US" altLang="zh-CN" sz="2000" dirty="0" smtClean="0"/>
              <a:t>Docker</a:t>
            </a:r>
            <a:r>
              <a:rPr lang="zh-CN" altLang="en-US" sz="2000" dirty="0" smtClean="0"/>
              <a:t>软件后，</a:t>
            </a:r>
            <a:r>
              <a:rPr lang="en-US" altLang="zh-CN" sz="2000" dirty="0" smtClean="0"/>
              <a:t>Docker</a:t>
            </a:r>
            <a:r>
              <a:rPr lang="zh-CN" altLang="en-US" sz="2000" dirty="0" smtClean="0"/>
              <a:t>联网失败或无法拉取镜像（直接报错或拉取部分镜像后拉取速度极慢）、第一次能拉取镜像第二次却不能：镜像加速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4.</a:t>
            </a:r>
            <a:r>
              <a:rPr lang="zh-CN" altLang="en-US" sz="2000" dirty="0" smtClean="0"/>
              <a:t>用的网上搜的镜像加速代理后还不行：代理有时效，换别的试试，或者直接用阿里云的（按本页</a:t>
            </a:r>
            <a:r>
              <a:rPr lang="en-US" altLang="zh-CN" sz="2000" dirty="0" err="1" smtClean="0"/>
              <a:t>ppt</a:t>
            </a:r>
            <a:r>
              <a:rPr lang="zh-CN" altLang="en-US" sz="2000" dirty="0" smtClean="0"/>
              <a:t>上面的链接里面的方法）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5.Win</a:t>
            </a:r>
            <a:r>
              <a:rPr lang="zh-CN" altLang="en-US" sz="2000" dirty="0" smtClean="0"/>
              <a:t>版</a:t>
            </a:r>
            <a:r>
              <a:rPr lang="en-US" altLang="zh-CN" sz="2000" dirty="0" smtClean="0"/>
              <a:t>Docker</a:t>
            </a:r>
            <a:r>
              <a:rPr lang="zh-CN" altLang="en-US" sz="2000" dirty="0" smtClean="0"/>
              <a:t>只支持</a:t>
            </a:r>
            <a:r>
              <a:rPr lang="en-US" altLang="zh-CN" sz="2000" dirty="0" err="1" smtClean="0"/>
              <a:t>ubuntu</a:t>
            </a:r>
            <a:r>
              <a:rPr lang="zh-CN" altLang="en-US" sz="2000" dirty="0" smtClean="0"/>
              <a:t>，不直接支持</a:t>
            </a:r>
            <a:r>
              <a:rPr lang="en-US" altLang="zh-CN" sz="2000" dirty="0" smtClean="0"/>
              <a:t>centos</a:t>
            </a:r>
            <a:r>
              <a:rPr lang="zh-CN" altLang="en-US" sz="2000" dirty="0" smtClean="0"/>
              <a:t>，拉取镜像时注意版本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827613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启动</a:t>
            </a:r>
            <a:r>
              <a:rPr lang="en-US" altLang="zh-CN" dirty="0" err="1"/>
              <a:t>TuGraph</a:t>
            </a:r>
            <a:r>
              <a:rPr lang="en-US" altLang="zh-CN" dirty="0"/>
              <a:t>-</a:t>
            </a:r>
            <a:r>
              <a:rPr lang="zh-CN" altLang="en-US" dirty="0" smtClean="0"/>
              <a:t>方法</a:t>
            </a:r>
            <a:r>
              <a:rPr lang="en-US" altLang="zh-CN" dirty="0" smtClean="0"/>
              <a:t>2.</a:t>
            </a:r>
            <a:r>
              <a:rPr lang="zh-CN" altLang="en-US" dirty="0" smtClean="0"/>
              <a:t>在自己的电脑上安装</a:t>
            </a:r>
            <a:r>
              <a:rPr lang="en-US" altLang="zh-CN" dirty="0" err="1" smtClean="0"/>
              <a:t>TuGraph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043222" y="1253490"/>
            <a:ext cx="10084470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 smtClean="0"/>
              <a:t>启动</a:t>
            </a:r>
            <a:r>
              <a:rPr lang="en-US" altLang="zh-CN" sz="2000" dirty="0" err="1" smtClean="0"/>
              <a:t>docker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○双击桌面上的</a:t>
            </a:r>
            <a:r>
              <a:rPr lang="en-US" altLang="zh-CN" sz="2000" dirty="0" err="1"/>
              <a:t>docker</a:t>
            </a:r>
            <a:r>
              <a:rPr lang="zh-CN" altLang="en-US" sz="2000" dirty="0"/>
              <a:t>图标（蓝底、白色鲸鱼），正常启动并联网成功时，界面左下角绿色字显示“</a:t>
            </a:r>
            <a:r>
              <a:rPr lang="en-US" altLang="zh-CN" sz="2000" dirty="0"/>
              <a:t>Engine running”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○在</a:t>
            </a:r>
            <a:r>
              <a:rPr lang="en-US" altLang="zh-CN" sz="2000" dirty="0"/>
              <a:t>D</a:t>
            </a:r>
            <a:r>
              <a:rPr lang="zh-CN" altLang="en-US" sz="2000" dirty="0"/>
              <a:t>盘新建文件夹，例如新建名为</a:t>
            </a:r>
            <a:r>
              <a:rPr lang="en-US" altLang="zh-CN" sz="2000" dirty="0" err="1"/>
              <a:t>wangmaoning</a:t>
            </a:r>
            <a:r>
              <a:rPr lang="zh-CN" altLang="en-US" sz="2000" dirty="0"/>
              <a:t>的文件夹，用于后续文件存放和</a:t>
            </a:r>
            <a:r>
              <a:rPr lang="en-US" altLang="zh-CN" sz="2000" dirty="0" err="1"/>
              <a:t>docker</a:t>
            </a:r>
            <a:r>
              <a:rPr lang="zh-CN" altLang="en-US" sz="2000" dirty="0"/>
              <a:t>容器共享</a:t>
            </a:r>
            <a:r>
              <a:rPr lang="zh-CN" altLang="en-US" sz="2000" dirty="0" smtClean="0"/>
              <a:t>路径</a:t>
            </a:r>
            <a:endParaRPr lang="en-US" altLang="zh-CN" sz="2000" dirty="0" smtClean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○用</a:t>
            </a:r>
            <a:r>
              <a:rPr lang="en-US" altLang="zh-CN" sz="2000" dirty="0" err="1"/>
              <a:t>cmd</a:t>
            </a:r>
            <a:r>
              <a:rPr lang="zh-CN" altLang="en-US" sz="2000" dirty="0"/>
              <a:t>指令进入</a:t>
            </a:r>
            <a:r>
              <a:rPr lang="en-US" altLang="zh-CN" sz="2000" dirty="0"/>
              <a:t>windows</a:t>
            </a:r>
            <a:r>
              <a:rPr lang="zh-CN" altLang="en-US" sz="2000" dirty="0"/>
              <a:t>命令行，输入</a:t>
            </a:r>
            <a:r>
              <a:rPr lang="en-US" altLang="zh-CN" sz="2000" dirty="0" err="1"/>
              <a:t>docker</a:t>
            </a:r>
            <a:r>
              <a:rPr lang="en-US" altLang="zh-CN" sz="2000" dirty="0"/>
              <a:t> images</a:t>
            </a:r>
            <a:r>
              <a:rPr lang="zh-CN" altLang="en-US" sz="2000" dirty="0"/>
              <a:t>，查看镜像列表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○命令行输入：</a:t>
            </a:r>
            <a:r>
              <a:rPr lang="en-US" altLang="zh-CN" sz="2000" dirty="0" err="1"/>
              <a:t>docker</a:t>
            </a:r>
            <a:r>
              <a:rPr lang="en-US" altLang="zh-CN" sz="2000" dirty="0"/>
              <a:t> run -d -v D:\wangmaoning:/mnt -p 7070:7070 -p 7687:7687 </a:t>
            </a:r>
            <a:r>
              <a:rPr lang="en-US" altLang="zh-CN" sz="2000" dirty="0" smtClean="0"/>
              <a:t> </a:t>
            </a:r>
            <a:r>
              <a:rPr lang="en-US" altLang="zh-CN" sz="2000" dirty="0" err="1"/>
              <a:t>tugraph</a:t>
            </a:r>
            <a:r>
              <a:rPr lang="en-US" altLang="zh-CN" sz="2000" dirty="0"/>
              <a:t>/tugraph-runtime-ubuntu18.04:</a:t>
            </a:r>
            <a:r>
              <a:rPr lang="en-US" altLang="zh-CN" sz="2000" dirty="0">
                <a:solidFill>
                  <a:srgbClr val="0000FF"/>
                </a:solidFill>
              </a:rPr>
              <a:t>4.5.0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lgraph_server</a:t>
            </a:r>
            <a:r>
              <a:rPr lang="en-US" altLang="zh-CN" sz="2000" dirty="0"/>
              <a:t> -d run --</a:t>
            </a:r>
            <a:r>
              <a:rPr lang="en-US" altLang="zh-CN" sz="2000" dirty="0" err="1"/>
              <a:t>enable_plugin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true</a:t>
            </a:r>
            <a:r>
              <a:rPr lang="zh-CN" altLang="en-US" sz="2000" dirty="0" smtClean="0"/>
              <a:t>（不要直接复制粘贴这句，先看上一步镜像列表中拉取下来的镜像版本！）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○打开浏览器，在浏览器地址栏输入</a:t>
            </a:r>
            <a:r>
              <a:rPr lang="en-US" altLang="zh-CN" sz="2000" dirty="0"/>
              <a:t>localhost:7070</a:t>
            </a:r>
            <a:r>
              <a:rPr lang="zh-CN" altLang="en-US" sz="2000" dirty="0"/>
              <a:t>，进入图形化操作</a:t>
            </a:r>
            <a:r>
              <a:rPr lang="zh-CN" altLang="en-US" sz="2000" dirty="0" smtClean="0"/>
              <a:t>界面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 smtClean="0"/>
              <a:t>访问</a:t>
            </a:r>
            <a:r>
              <a:rPr lang="en-US" altLang="zh-CN" sz="2000" dirty="0" smtClean="0"/>
              <a:t>web</a:t>
            </a:r>
            <a:r>
              <a:rPr lang="zh-CN" altLang="en-US" sz="2000" dirty="0" smtClean="0"/>
              <a:t>端：</a:t>
            </a:r>
            <a:r>
              <a:rPr lang="en-US" altLang="zh-CN" sz="2000" dirty="0" smtClean="0"/>
              <a:t>localhost:7070</a:t>
            </a:r>
            <a:r>
              <a:rPr lang="zh-CN" altLang="en-US" sz="2000" dirty="0" smtClean="0"/>
              <a:t>，默认用户名为</a:t>
            </a:r>
            <a:r>
              <a:rPr lang="en-US" altLang="zh-CN" sz="2000" dirty="0" smtClean="0"/>
              <a:t>admin</a:t>
            </a:r>
            <a:r>
              <a:rPr lang="zh-CN" altLang="en-US" sz="2000" dirty="0" smtClean="0"/>
              <a:t>，密码为</a:t>
            </a:r>
            <a:r>
              <a:rPr lang="en-US" altLang="zh-CN" sz="2000" dirty="0" smtClean="0"/>
              <a:t>73@TuGraph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bolt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 localhost:7687</a:t>
            </a:r>
          </a:p>
        </p:txBody>
      </p:sp>
    </p:spTree>
    <p:extLst>
      <p:ext uri="{BB962C8B-B14F-4D97-AF65-F5344CB8AC3E}">
        <p14:creationId xmlns:p14="http://schemas.microsoft.com/office/powerpoint/2010/main" val="4230556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Docker</a:t>
            </a:r>
            <a:r>
              <a:rPr lang="zh-CN" altLang="en-US" dirty="0" smtClean="0"/>
              <a:t>命令解析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883469"/>
              </p:ext>
            </p:extLst>
          </p:nvPr>
        </p:nvGraphicFramePr>
        <p:xfrm>
          <a:off x="1428717" y="1412776"/>
          <a:ext cx="9364062" cy="4743559"/>
        </p:xfrm>
        <a:graphic>
          <a:graphicData uri="http://schemas.openxmlformats.org/drawingml/2006/table">
            <a:tbl>
              <a:tblPr/>
              <a:tblGrid>
                <a:gridCol w="4682031">
                  <a:extLst>
                    <a:ext uri="{9D8B030D-6E8A-4147-A177-3AD203B41FA5}">
                      <a16:colId xmlns:a16="http://schemas.microsoft.com/office/drawing/2014/main" val="1132399912"/>
                    </a:ext>
                  </a:extLst>
                </a:gridCol>
                <a:gridCol w="4682031">
                  <a:extLst>
                    <a:ext uri="{9D8B030D-6E8A-4147-A177-3AD203B41FA5}">
                      <a16:colId xmlns:a16="http://schemas.microsoft.com/office/drawing/2014/main" val="1198597124"/>
                    </a:ext>
                  </a:extLst>
                </a:gridCol>
              </a:tblGrid>
              <a:tr h="31213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effectLst/>
                        </a:rPr>
                        <a:t>参数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dirty="0">
                          <a:effectLst/>
                        </a:rPr>
                        <a:t>含义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65832"/>
                  </a:ext>
                </a:extLst>
              </a:tr>
              <a:tr h="312135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docker run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Docker </a:t>
                      </a:r>
                      <a:r>
                        <a:rPr lang="zh-CN" altLang="en-US" sz="1500">
                          <a:effectLst/>
                        </a:rPr>
                        <a:t>命令，用于创建并启动一个新容器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986730"/>
                  </a:ext>
                </a:extLst>
              </a:tr>
              <a:tr h="312135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-d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detached </a:t>
                      </a:r>
                      <a:r>
                        <a:rPr lang="zh-CN" altLang="en-US" sz="1500">
                          <a:effectLst/>
                        </a:rPr>
                        <a:t>模式，容器在后台运行，不占用当前终端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324804"/>
                  </a:ext>
                </a:extLst>
              </a:tr>
              <a:tr h="1014440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-v </a:t>
                      </a:r>
                      <a:r>
                        <a:rPr lang="en-US" altLang="zh-CN" sz="15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D:\wangmaoning</a:t>
                      </a:r>
                      <a:r>
                        <a:rPr lang="en-US" sz="1500" dirty="0" smtClean="0">
                          <a:effectLst/>
                        </a:rPr>
                        <a:t>:/</a:t>
                      </a:r>
                      <a:r>
                        <a:rPr lang="en-US" sz="1500" dirty="0">
                          <a:effectLst/>
                        </a:rPr>
                        <a:t>mnt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b="1" dirty="0">
                          <a:effectLst/>
                        </a:rPr>
                        <a:t>数据卷挂载</a:t>
                      </a:r>
                      <a:r>
                        <a:rPr lang="zh-CN" altLang="en-US" sz="1500" dirty="0">
                          <a:effectLst/>
                        </a:rPr>
                        <a:t>。将宿主机</a:t>
                      </a:r>
                      <a:r>
                        <a:rPr lang="zh-CN" altLang="en-US" sz="1500" dirty="0" smtClean="0">
                          <a:effectLst/>
                        </a:rPr>
                        <a:t>的</a:t>
                      </a:r>
                      <a:r>
                        <a:rPr lang="en-US" altLang="zh-CN" sz="15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D:\wangmaoning</a:t>
                      </a:r>
                      <a:r>
                        <a:rPr lang="zh-CN" altLang="en-US" sz="1500" dirty="0" smtClean="0">
                          <a:effectLst/>
                        </a:rPr>
                        <a:t>目录</a:t>
                      </a:r>
                      <a:r>
                        <a:rPr lang="zh-CN" altLang="en-US" sz="1500" dirty="0">
                          <a:effectLst/>
                        </a:rPr>
                        <a:t>映射到容器内的 </a:t>
                      </a:r>
                      <a:r>
                        <a:rPr lang="en-US" altLang="zh-CN" sz="1500" dirty="0">
                          <a:effectLst/>
                        </a:rPr>
                        <a:t>/</a:t>
                      </a:r>
                      <a:r>
                        <a:rPr lang="en-US" altLang="zh-CN" sz="1500" dirty="0" err="1">
                          <a:effectLst/>
                        </a:rPr>
                        <a:t>mnt</a:t>
                      </a:r>
                      <a:r>
                        <a:rPr lang="en-US" altLang="zh-CN" sz="1500" dirty="0">
                          <a:effectLst/>
                        </a:rPr>
                        <a:t> </a:t>
                      </a:r>
                      <a:r>
                        <a:rPr lang="zh-CN" altLang="en-US" sz="1500" dirty="0">
                          <a:effectLst/>
                        </a:rPr>
                        <a:t>目录。</a:t>
                      </a:r>
                      <a:r>
                        <a:rPr lang="en-US" altLang="zh-CN" sz="1500" dirty="0" err="1">
                          <a:effectLst/>
                        </a:rPr>
                        <a:t>TuGraph</a:t>
                      </a:r>
                      <a:r>
                        <a:rPr lang="en-US" altLang="zh-CN" sz="1500" dirty="0">
                          <a:effectLst/>
                        </a:rPr>
                        <a:t> </a:t>
                      </a:r>
                      <a:r>
                        <a:rPr lang="zh-CN" altLang="en-US" sz="1500" dirty="0">
                          <a:effectLst/>
                        </a:rPr>
                        <a:t>默认将数据库文件、日志和配置存放在 </a:t>
                      </a:r>
                      <a:r>
                        <a:rPr lang="en-US" altLang="zh-CN" sz="1500" dirty="0">
                          <a:effectLst/>
                        </a:rPr>
                        <a:t>/</a:t>
                      </a:r>
                      <a:r>
                        <a:rPr lang="en-US" altLang="zh-CN" sz="1500" dirty="0" err="1">
                          <a:effectLst/>
                        </a:rPr>
                        <a:t>mnt</a:t>
                      </a:r>
                      <a:r>
                        <a:rPr lang="zh-CN" altLang="en-US" sz="1500" dirty="0">
                          <a:effectLst/>
                        </a:rPr>
                        <a:t>，此举实现</a:t>
                      </a:r>
                      <a:r>
                        <a:rPr lang="zh-CN" altLang="en-US" sz="1500" b="1" dirty="0">
                          <a:effectLst/>
                        </a:rPr>
                        <a:t>数据持久化</a:t>
                      </a:r>
                      <a:r>
                        <a:rPr lang="zh-CN" altLang="en-US" sz="1500" dirty="0">
                          <a:effectLst/>
                        </a:rPr>
                        <a:t>，避免容器删除后数据丢失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39136"/>
                  </a:ext>
                </a:extLst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-p </a:t>
                      </a:r>
                      <a:r>
                        <a:rPr lang="en-US" sz="1500" dirty="0" smtClean="0">
                          <a:effectLst/>
                        </a:rPr>
                        <a:t>7070:7070</a:t>
                      </a:r>
                    </a:p>
                    <a:p>
                      <a:r>
                        <a:rPr lang="en-US" sz="1500" dirty="0" smtClean="0">
                          <a:effectLst/>
                        </a:rPr>
                        <a:t>-p 7687:7687</a:t>
                      </a:r>
                    </a:p>
                    <a:p>
                      <a:r>
                        <a:rPr lang="en-US" sz="1500" dirty="0" smtClean="0">
                          <a:effectLst/>
                        </a:rPr>
                        <a:t>-p </a:t>
                      </a:r>
                      <a:r>
                        <a:rPr lang="en-US" sz="1500" dirty="0">
                          <a:effectLst/>
                        </a:rPr>
                        <a:t>9090:9090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b="1">
                          <a:effectLst/>
                        </a:rPr>
                        <a:t>端口映射</a:t>
                      </a:r>
                      <a:r>
                        <a:rPr lang="zh-CN" altLang="en-US" sz="1500">
                          <a:effectLst/>
                        </a:rPr>
                        <a:t>。格式为 宿主机端口</a:t>
                      </a:r>
                      <a:r>
                        <a:rPr lang="en-US" altLang="zh-CN" sz="1500">
                          <a:effectLst/>
                        </a:rPr>
                        <a:t>:</a:t>
                      </a:r>
                      <a:r>
                        <a:rPr lang="zh-CN" altLang="en-US" sz="1500">
                          <a:effectLst/>
                        </a:rPr>
                        <a:t>容器端口，将容器内的三个服务端口暴露给外部网络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891668"/>
                  </a:ext>
                </a:extLst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 dirty="0" err="1" smtClean="0">
                          <a:effectLst/>
                        </a:rPr>
                        <a:t>tugraph</a:t>
                      </a:r>
                      <a:r>
                        <a:rPr lang="en-US" sz="1500" dirty="0" smtClean="0">
                          <a:effectLst/>
                        </a:rPr>
                        <a:t>/tugraph-runtime-ubuntu18.04:4.5.0</a:t>
                      </a:r>
                      <a:endParaRPr lang="en-US" sz="1500" dirty="0">
                        <a:effectLst/>
                      </a:endParaRP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effectLst/>
                        </a:rPr>
                        <a:t>使用的 </a:t>
                      </a:r>
                      <a:r>
                        <a:rPr lang="en-US" altLang="zh-CN" sz="1500" dirty="0">
                          <a:effectLst/>
                        </a:rPr>
                        <a:t>Docker </a:t>
                      </a:r>
                      <a:r>
                        <a:rPr lang="zh-CN" altLang="en-US" sz="1500" dirty="0">
                          <a:effectLst/>
                        </a:rPr>
                        <a:t>镜像名称及版本标签。基于 </a:t>
                      </a:r>
                      <a:r>
                        <a:rPr lang="en-US" altLang="zh-CN" sz="1500" dirty="0" smtClean="0">
                          <a:effectLst/>
                        </a:rPr>
                        <a:t>ubuntu18.04 </a:t>
                      </a:r>
                      <a:r>
                        <a:rPr lang="zh-CN" altLang="en-US" sz="1500" dirty="0">
                          <a:effectLst/>
                        </a:rPr>
                        <a:t>的 </a:t>
                      </a:r>
                      <a:r>
                        <a:rPr lang="en-US" altLang="zh-CN" sz="1500" dirty="0" err="1">
                          <a:effectLst/>
                        </a:rPr>
                        <a:t>TuGraph</a:t>
                      </a:r>
                      <a:r>
                        <a:rPr lang="en-US" altLang="zh-CN" sz="1500" dirty="0">
                          <a:effectLst/>
                        </a:rPr>
                        <a:t> </a:t>
                      </a:r>
                      <a:r>
                        <a:rPr lang="zh-CN" altLang="en-US" sz="1500" dirty="0">
                          <a:effectLst/>
                        </a:rPr>
                        <a:t>运行时环境，版本为 </a:t>
                      </a:r>
                      <a:r>
                        <a:rPr lang="en-US" altLang="zh-CN" sz="1500" dirty="0">
                          <a:effectLst/>
                        </a:rPr>
                        <a:t>4.5.0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981307"/>
                  </a:ext>
                </a:extLst>
              </a:tr>
              <a:tr h="1482643"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lgraph_server</a:t>
                      </a:r>
                      <a:r>
                        <a:rPr lang="en-US" sz="1500" dirty="0">
                          <a:effectLst/>
                        </a:rPr>
                        <a:t> -d run --</a:t>
                      </a:r>
                      <a:r>
                        <a:rPr lang="en-US" sz="1500" dirty="0" err="1">
                          <a:effectLst/>
                        </a:rPr>
                        <a:t>enable_plugin</a:t>
                      </a:r>
                      <a:r>
                        <a:rPr lang="en-US" sz="1500" dirty="0">
                          <a:effectLst/>
                        </a:rPr>
                        <a:t> true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effectLst/>
                        </a:rPr>
                        <a:t>容器启动后执行的命令</a:t>
                      </a:r>
                      <a:r>
                        <a:rPr lang="zh-CN" altLang="en-US" sz="1500" dirty="0" smtClean="0">
                          <a:effectLst/>
                        </a:rPr>
                        <a:t>。</a:t>
                      </a:r>
                      <a:endParaRPr lang="en-US" altLang="zh-CN" sz="1500" dirty="0" smtClean="0">
                        <a:effectLst/>
                      </a:endParaRPr>
                    </a:p>
                    <a:p>
                      <a:r>
                        <a:rPr lang="en-US" altLang="zh-CN" sz="1500" dirty="0" smtClean="0">
                          <a:effectLst/>
                        </a:rPr>
                        <a:t>• </a:t>
                      </a:r>
                      <a:r>
                        <a:rPr lang="en-US" altLang="zh-CN" sz="1500" dirty="0" err="1">
                          <a:effectLst/>
                        </a:rPr>
                        <a:t>lgraph_server</a:t>
                      </a:r>
                      <a:r>
                        <a:rPr lang="zh-CN" altLang="en-US" sz="1500" dirty="0">
                          <a:effectLst/>
                        </a:rPr>
                        <a:t>：</a:t>
                      </a:r>
                      <a:r>
                        <a:rPr lang="en-US" altLang="zh-CN" sz="1500" dirty="0" err="1">
                          <a:effectLst/>
                        </a:rPr>
                        <a:t>TuGraph</a:t>
                      </a:r>
                      <a:r>
                        <a:rPr lang="en-US" altLang="zh-CN" sz="1500" dirty="0">
                          <a:effectLst/>
                        </a:rPr>
                        <a:t> </a:t>
                      </a:r>
                      <a:r>
                        <a:rPr lang="zh-CN" altLang="en-US" sz="1500" dirty="0">
                          <a:effectLst/>
                        </a:rPr>
                        <a:t>核心</a:t>
                      </a:r>
                      <a:r>
                        <a:rPr lang="zh-CN" altLang="en-US" sz="1500" dirty="0" smtClean="0">
                          <a:effectLst/>
                        </a:rPr>
                        <a:t>服务程序</a:t>
                      </a:r>
                      <a:endParaRPr lang="en-US" altLang="zh-CN" sz="1500" dirty="0" smtClean="0">
                        <a:effectLst/>
                      </a:endParaRPr>
                    </a:p>
                    <a:p>
                      <a:r>
                        <a:rPr lang="en-US" altLang="zh-CN" sz="1500" dirty="0" smtClean="0">
                          <a:effectLst/>
                        </a:rPr>
                        <a:t>• </a:t>
                      </a:r>
                      <a:r>
                        <a:rPr lang="en-US" altLang="zh-CN" sz="1500" dirty="0">
                          <a:effectLst/>
                        </a:rPr>
                        <a:t>-d run</a:t>
                      </a:r>
                      <a:r>
                        <a:rPr lang="zh-CN" altLang="en-US" sz="1500" dirty="0">
                          <a:effectLst/>
                        </a:rPr>
                        <a:t>：以服务模式</a:t>
                      </a:r>
                      <a:r>
                        <a:rPr lang="zh-CN" altLang="en-US" sz="1500" dirty="0" smtClean="0">
                          <a:effectLst/>
                        </a:rPr>
                        <a:t>运行</a:t>
                      </a:r>
                      <a:endParaRPr lang="en-US" altLang="zh-CN" sz="1500" dirty="0" smtClean="0">
                        <a:effectLst/>
                      </a:endParaRPr>
                    </a:p>
                    <a:p>
                      <a:r>
                        <a:rPr lang="en-US" altLang="zh-CN" sz="1500" dirty="0" smtClean="0">
                          <a:effectLst/>
                        </a:rPr>
                        <a:t>• </a:t>
                      </a:r>
                      <a:r>
                        <a:rPr lang="en-US" altLang="zh-CN" sz="1500" dirty="0">
                          <a:effectLst/>
                        </a:rPr>
                        <a:t>--</a:t>
                      </a:r>
                      <a:r>
                        <a:rPr lang="en-US" altLang="zh-CN" sz="1500" dirty="0" err="1">
                          <a:effectLst/>
                        </a:rPr>
                        <a:t>enable_plugin</a:t>
                      </a:r>
                      <a:r>
                        <a:rPr lang="en-US" altLang="zh-CN" sz="1500" dirty="0">
                          <a:effectLst/>
                        </a:rPr>
                        <a:t> true</a:t>
                      </a:r>
                      <a:r>
                        <a:rPr lang="zh-CN" altLang="en-US" sz="1500" dirty="0">
                          <a:effectLst/>
                        </a:rPr>
                        <a:t>：启用 </a:t>
                      </a:r>
                      <a:r>
                        <a:rPr lang="en-US" altLang="zh-CN" sz="1500" dirty="0">
                          <a:effectLst/>
                        </a:rPr>
                        <a:t>C++/Python </a:t>
                      </a:r>
                      <a:r>
                        <a:rPr lang="zh-CN" altLang="en-US" sz="1500" dirty="0">
                          <a:effectLst/>
                        </a:rPr>
                        <a:t>等图计算插件扩展功能</a:t>
                      </a:r>
                    </a:p>
                  </a:txBody>
                  <a:tcPr marL="78034" marR="78034" marT="39017" marB="39017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329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826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端口用途</a:t>
            </a:r>
            <a:r>
              <a:rPr lang="zh-CN" altLang="en-US" b="0" dirty="0" smtClean="0"/>
              <a:t>对照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09600" y="2445861"/>
          <a:ext cx="10972800" cy="283464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88161383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4005898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端口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主要用途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451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7070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>
                          <a:effectLst/>
                        </a:rPr>
                        <a:t>Web </a:t>
                      </a:r>
                      <a:r>
                        <a:rPr lang="zh-CN" altLang="en-US" b="1">
                          <a:effectLst/>
                        </a:rPr>
                        <a:t>管理界面 </a:t>
                      </a:r>
                      <a:r>
                        <a:rPr lang="en-US" altLang="zh-CN" b="1">
                          <a:effectLst/>
                        </a:rPr>
                        <a:t>&amp; RESTful API</a:t>
                      </a:r>
                      <a:r>
                        <a:rPr lang="zh-CN" altLang="en-US">
                          <a:effectLst/>
                        </a:rPr>
                        <a:t>。浏览器访问 </a:t>
                      </a:r>
                      <a:r>
                        <a:rPr lang="en-US" altLang="zh-CN">
                          <a:effectLst/>
                        </a:rPr>
                        <a:t>http://&lt;</a:t>
                      </a:r>
                      <a:r>
                        <a:rPr lang="zh-CN" altLang="en-US">
                          <a:effectLst/>
                        </a:rPr>
                        <a:t>服务器</a:t>
                      </a:r>
                      <a:r>
                        <a:rPr lang="en-US" altLang="zh-CN">
                          <a:effectLst/>
                        </a:rPr>
                        <a:t>IP&gt;:7070 </a:t>
                      </a:r>
                      <a:r>
                        <a:rPr lang="zh-CN" altLang="en-US">
                          <a:effectLst/>
                        </a:rPr>
                        <a:t>可进行可视化建库、导入数据、执行 </a:t>
                      </a:r>
                      <a:r>
                        <a:rPr lang="en-US" altLang="zh-CN">
                          <a:effectLst/>
                        </a:rPr>
                        <a:t>Cypher </a:t>
                      </a:r>
                      <a:r>
                        <a:rPr lang="zh-CN" altLang="en-US">
                          <a:effectLst/>
                        </a:rPr>
                        <a:t>查询等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129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7687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>
                          <a:effectLst/>
                        </a:rPr>
                        <a:t>Bolt </a:t>
                      </a:r>
                      <a:r>
                        <a:rPr lang="zh-CN" altLang="en-US" b="1">
                          <a:effectLst/>
                        </a:rPr>
                        <a:t>协议端口</a:t>
                      </a:r>
                      <a:r>
                        <a:rPr lang="zh-CN" altLang="en-US">
                          <a:effectLst/>
                        </a:rPr>
                        <a:t>。供客户端驱动（</a:t>
                      </a:r>
                      <a:r>
                        <a:rPr lang="en-US" altLang="zh-CN">
                          <a:effectLst/>
                        </a:rPr>
                        <a:t>Java/Python/Go </a:t>
                      </a:r>
                      <a:r>
                        <a:rPr lang="zh-CN" altLang="en-US">
                          <a:effectLst/>
                        </a:rPr>
                        <a:t>等）或 </a:t>
                      </a:r>
                      <a:r>
                        <a:rPr lang="en-US" altLang="zh-CN">
                          <a:effectLst/>
                        </a:rPr>
                        <a:t>Cypher </a:t>
                      </a:r>
                      <a:r>
                        <a:rPr lang="zh-CN" altLang="en-US">
                          <a:effectLst/>
                        </a:rPr>
                        <a:t>命令行工具连接数据库，执行图查询与事务操作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954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9090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</a:rPr>
                        <a:t>监控与 </a:t>
                      </a:r>
                      <a:r>
                        <a:rPr lang="en-US" altLang="zh-CN" b="1" dirty="0" err="1">
                          <a:effectLst/>
                        </a:rPr>
                        <a:t>gRPC</a:t>
                      </a:r>
                      <a:r>
                        <a:rPr lang="en-US" altLang="zh-CN" b="1" dirty="0">
                          <a:effectLst/>
                        </a:rPr>
                        <a:t> </a:t>
                      </a:r>
                      <a:r>
                        <a:rPr lang="zh-CN" altLang="en-US" b="1" dirty="0">
                          <a:effectLst/>
                        </a:rPr>
                        <a:t>服务端口</a:t>
                      </a:r>
                      <a:r>
                        <a:rPr lang="zh-CN" altLang="en-US" dirty="0">
                          <a:effectLst/>
                        </a:rPr>
                        <a:t>。通常用于 </a:t>
                      </a:r>
                      <a:r>
                        <a:rPr lang="en-US" altLang="zh-CN" dirty="0">
                          <a:effectLst/>
                        </a:rPr>
                        <a:t>Prometheus </a:t>
                      </a:r>
                      <a:r>
                        <a:rPr lang="zh-CN" altLang="en-US" dirty="0">
                          <a:effectLst/>
                        </a:rPr>
                        <a:t>指标采集、集群内部通信或扩展服务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91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484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常见问题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055440" y="908720"/>
            <a:ext cx="10084470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smtClean="0"/>
              <a:t>1.</a:t>
            </a:r>
            <a:r>
              <a:rPr lang="zh-CN" altLang="en-US" sz="2000" dirty="0" smtClean="0"/>
              <a:t>常用的</a:t>
            </a:r>
            <a:r>
              <a:rPr lang="en-US" altLang="zh-CN" sz="2000" dirty="0" err="1" smtClean="0"/>
              <a:t>docker</a:t>
            </a:r>
            <a:r>
              <a:rPr lang="zh-CN" altLang="en-US" sz="2000" dirty="0" smtClean="0"/>
              <a:t>命令：</a:t>
            </a:r>
            <a:r>
              <a:rPr lang="en-US" altLang="zh-CN" sz="2000" dirty="0" err="1" smtClean="0"/>
              <a:t>docker</a:t>
            </a:r>
            <a:r>
              <a:rPr lang="en-US" altLang="zh-CN" sz="2000" dirty="0" smtClean="0"/>
              <a:t> pull/images/</a:t>
            </a:r>
            <a:r>
              <a:rPr lang="en-US" altLang="zh-CN" sz="2000" dirty="0" err="1" smtClean="0"/>
              <a:t>ps</a:t>
            </a:r>
            <a:r>
              <a:rPr lang="en-US" altLang="zh-CN" sz="2000" dirty="0" smtClean="0"/>
              <a:t>/</a:t>
            </a:r>
            <a:r>
              <a:rPr lang="en-US" altLang="zh-CN" sz="2000" dirty="0" err="1" smtClean="0"/>
              <a:t>ps</a:t>
            </a:r>
            <a:r>
              <a:rPr lang="en-US" altLang="zh-CN" sz="2000" dirty="0" smtClean="0"/>
              <a:t> –a/run/exec/stop/restart/</a:t>
            </a:r>
            <a:r>
              <a:rPr lang="en-US" altLang="zh-CN" sz="2000" dirty="0" err="1" smtClean="0"/>
              <a:t>rm</a:t>
            </a:r>
            <a:r>
              <a:rPr lang="zh-CN" altLang="en-US" sz="2000" dirty="0" smtClean="0"/>
              <a:t>等</a:t>
            </a:r>
            <a:endParaRPr lang="en-US" altLang="zh-CN" sz="20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smtClean="0"/>
              <a:t>2.</a:t>
            </a:r>
            <a:r>
              <a:rPr lang="zh-CN" altLang="en-US" sz="2000" dirty="0" smtClean="0"/>
              <a:t>报错“找不到</a:t>
            </a:r>
            <a:r>
              <a:rPr lang="en-US" altLang="zh-CN" sz="2000" dirty="0" smtClean="0"/>
              <a:t>XXX</a:t>
            </a:r>
            <a:r>
              <a:rPr lang="zh-CN" altLang="en-US" sz="2000" dirty="0" smtClean="0"/>
              <a:t>命令”：多数是因为命令拼写错误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smtClean="0"/>
              <a:t>3.</a:t>
            </a:r>
            <a:r>
              <a:rPr lang="zh-CN" altLang="en-US" sz="2000" dirty="0" smtClean="0"/>
              <a:t>端口</a:t>
            </a:r>
            <a:r>
              <a:rPr lang="en-US" altLang="zh-CN" sz="2000" dirty="0" smtClean="0"/>
              <a:t>7070/7687/9090</a:t>
            </a:r>
            <a:r>
              <a:rPr lang="zh-CN" altLang="en-US" sz="2000" dirty="0" smtClean="0"/>
              <a:t>被占用：比较可能是因为之前</a:t>
            </a:r>
            <a:r>
              <a:rPr lang="en-US" altLang="zh-CN" sz="2000" dirty="0" err="1" smtClean="0"/>
              <a:t>docker</a:t>
            </a:r>
            <a:r>
              <a:rPr lang="en-US" altLang="zh-CN" sz="2000" dirty="0" smtClean="0"/>
              <a:t> run</a:t>
            </a:r>
            <a:r>
              <a:rPr lang="zh-CN" altLang="en-US" sz="2000" dirty="0" smtClean="0"/>
              <a:t>开的</a:t>
            </a:r>
            <a:r>
              <a:rPr lang="en-US" altLang="zh-CN" sz="2000" dirty="0" err="1" smtClean="0"/>
              <a:t>TuGraph</a:t>
            </a:r>
            <a:r>
              <a:rPr lang="zh-CN" altLang="en-US" sz="2000" dirty="0" smtClean="0"/>
              <a:t>容器占用了该端口，解决方法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用</a:t>
            </a:r>
            <a:r>
              <a:rPr lang="en-US" altLang="zh-CN" sz="2000" dirty="0" err="1" smtClean="0"/>
              <a:t>docker</a:t>
            </a:r>
            <a:r>
              <a:rPr lang="en-US" altLang="zh-CN" sz="2000" dirty="0" smtClean="0"/>
              <a:t> stop</a:t>
            </a:r>
            <a:r>
              <a:rPr lang="zh-CN" altLang="en-US" sz="2000" dirty="0" smtClean="0"/>
              <a:t>命令关闭不再使用的容器并用</a:t>
            </a:r>
            <a:r>
              <a:rPr lang="en-US" altLang="zh-CN" sz="2000" dirty="0" err="1" smtClean="0"/>
              <a:t>docker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rm</a:t>
            </a:r>
            <a:r>
              <a:rPr lang="zh-CN" altLang="en-US" sz="2000" dirty="0" smtClean="0"/>
              <a:t>删除它；最好是用</a:t>
            </a:r>
            <a:r>
              <a:rPr lang="en-US" altLang="zh-CN" sz="2000" dirty="0" smtClean="0"/>
              <a:t>restart</a:t>
            </a:r>
            <a:r>
              <a:rPr lang="zh-CN" altLang="en-US" sz="2000" dirty="0" smtClean="0"/>
              <a:t>重启容器而不是删了重开；也有一定可能是端口确实被占用，比如正在使用别的数据库软件例如</a:t>
            </a:r>
            <a:r>
              <a:rPr lang="en-US" altLang="zh-CN" sz="2000" dirty="0" smtClean="0"/>
              <a:t>neo4j</a:t>
            </a:r>
            <a:r>
              <a:rPr lang="zh-CN" altLang="en-US" sz="2000" dirty="0" smtClean="0"/>
              <a:t>、极域课堂屏幕广播软件教师端等，</a:t>
            </a:r>
            <a:r>
              <a:rPr lang="zh-CN" altLang="en-US" sz="2000" dirty="0"/>
              <a:t>解决方法</a:t>
            </a:r>
            <a:r>
              <a:rPr lang="en-US" altLang="zh-CN" sz="2000" dirty="0"/>
              <a:t>-</a:t>
            </a:r>
            <a:r>
              <a:rPr lang="zh-CN" altLang="en-US" sz="2000" dirty="0" smtClean="0"/>
              <a:t>将映射到宿主机（你的电脑</a:t>
            </a:r>
            <a:r>
              <a:rPr lang="zh-CN" altLang="en-US" sz="2000" dirty="0" smtClean="0"/>
              <a:t>）的端口改为其他，例如</a:t>
            </a:r>
            <a:r>
              <a:rPr lang="en-US" altLang="zh-CN" sz="2000" dirty="0"/>
              <a:t>-p </a:t>
            </a:r>
            <a:r>
              <a:rPr lang="en-US" altLang="zh-CN" sz="2000" dirty="0" smtClean="0"/>
              <a:t>7171:7070 </a:t>
            </a:r>
            <a:r>
              <a:rPr lang="zh-CN" altLang="en-US" sz="2000" dirty="0" smtClean="0"/>
              <a:t>，需进入</a:t>
            </a:r>
            <a:r>
              <a:rPr lang="zh-CN" altLang="en-US" sz="2000" dirty="0"/>
              <a:t>图形化操作</a:t>
            </a:r>
            <a:r>
              <a:rPr lang="zh-CN" altLang="en-US" sz="2000" dirty="0" smtClean="0"/>
              <a:t>界面时，在浏览器</a:t>
            </a:r>
            <a:r>
              <a:rPr lang="zh-CN" altLang="en-US" sz="2000" dirty="0"/>
              <a:t>地址栏输入</a:t>
            </a:r>
            <a:r>
              <a:rPr lang="en-US" altLang="zh-CN" sz="2000" dirty="0" smtClean="0"/>
              <a:t>localhost:7171</a:t>
            </a:r>
            <a:endParaRPr lang="en-US" altLang="zh-CN" sz="20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smtClean="0"/>
              <a:t>4.docker run</a:t>
            </a:r>
            <a:r>
              <a:rPr lang="zh-CN" altLang="en-US" sz="2000" dirty="0" smtClean="0"/>
              <a:t>运行容器时，又重新下载镜像：一般是镜像版本号或者名称写错了，</a:t>
            </a:r>
            <a:r>
              <a:rPr lang="en-US" altLang="zh-CN" sz="2000" dirty="0" err="1" smtClean="0"/>
              <a:t>docker</a:t>
            </a:r>
            <a:r>
              <a:rPr lang="en-US" altLang="zh-CN" sz="2000" dirty="0" smtClean="0"/>
              <a:t> run</a:t>
            </a:r>
            <a:r>
              <a:rPr lang="zh-CN" altLang="en-US" sz="2000" dirty="0" smtClean="0"/>
              <a:t>在本地没找到对应名称的镜像时，会直接拉取，</a:t>
            </a:r>
            <a:r>
              <a:rPr lang="zh-CN" altLang="en-US" sz="2000" dirty="0"/>
              <a:t>解决方法</a:t>
            </a:r>
            <a:r>
              <a:rPr lang="en-US" altLang="zh-CN" sz="2000" dirty="0" smtClean="0"/>
              <a:t>-</a:t>
            </a:r>
            <a:r>
              <a:rPr lang="en-US" altLang="zh-CN" sz="2000" dirty="0" err="1" smtClean="0"/>
              <a:t>ctrl+c</a:t>
            </a:r>
            <a:r>
              <a:rPr lang="zh-CN" altLang="en-US" sz="2000" dirty="0" smtClean="0"/>
              <a:t>停止拉取，然后用</a:t>
            </a:r>
            <a:r>
              <a:rPr lang="en-US" altLang="zh-CN" sz="2000" dirty="0" err="1" smtClean="0"/>
              <a:t>docker</a:t>
            </a:r>
            <a:r>
              <a:rPr lang="en-US" altLang="zh-CN" sz="2000" dirty="0" smtClean="0"/>
              <a:t> images</a:t>
            </a:r>
            <a:r>
              <a:rPr lang="zh-CN" altLang="en-US" sz="2000" dirty="0" smtClean="0"/>
              <a:t>核对本地镜像版本号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smtClean="0"/>
              <a:t>5.</a:t>
            </a:r>
            <a:r>
              <a:rPr lang="zh-CN" altLang="en-US" sz="2000" dirty="0" smtClean="0"/>
              <a:t>镜像拉取太</a:t>
            </a:r>
            <a:r>
              <a:rPr lang="zh-CN" altLang="en-US" sz="2000" dirty="0"/>
              <a:t>慢：解决方法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换</a:t>
            </a:r>
            <a:r>
              <a:rPr lang="en-US" altLang="zh-CN" sz="2000" dirty="0" err="1" smtClean="0"/>
              <a:t>docker</a:t>
            </a:r>
            <a:r>
              <a:rPr lang="zh-CN" altLang="en-US" sz="2000" dirty="0" smtClean="0"/>
              <a:t>源，</a:t>
            </a:r>
            <a:r>
              <a:rPr lang="en-US" altLang="zh-CN" sz="2000" dirty="0" err="1" smtClean="0"/>
              <a:t>ppt</a:t>
            </a:r>
            <a:r>
              <a:rPr lang="zh-CN" altLang="en-US" sz="2000" dirty="0" smtClean="0"/>
              <a:t>第</a:t>
            </a:r>
            <a:r>
              <a:rPr lang="en-US" altLang="zh-CN" sz="2000" dirty="0" smtClean="0"/>
              <a:t>13</a:t>
            </a:r>
            <a:r>
              <a:rPr lang="zh-CN" altLang="en-US" sz="2000" dirty="0" smtClean="0"/>
              <a:t>页有讲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smtClean="0"/>
              <a:t>6.</a:t>
            </a:r>
            <a:r>
              <a:rPr lang="zh-CN" altLang="en-US" sz="2000" dirty="0" smtClean="0"/>
              <a:t>有的机房安装过</a:t>
            </a:r>
            <a:r>
              <a:rPr lang="en-US" altLang="zh-CN" sz="2000" dirty="0" err="1" smtClean="0"/>
              <a:t>TuGraph</a:t>
            </a:r>
            <a:r>
              <a:rPr lang="zh-CN" altLang="en-US" sz="2000" dirty="0" smtClean="0"/>
              <a:t>：沙河</a:t>
            </a:r>
            <a:r>
              <a:rPr lang="en-US" altLang="zh-CN" sz="2000" dirty="0" smtClean="0"/>
              <a:t>6</a:t>
            </a:r>
            <a:r>
              <a:rPr lang="zh-CN" altLang="en-US" sz="2000" dirty="0" smtClean="0"/>
              <a:t>号楼</a:t>
            </a:r>
            <a:r>
              <a:rPr lang="en-US" altLang="zh-CN" sz="2000" dirty="0" smtClean="0"/>
              <a:t>304</a:t>
            </a:r>
            <a:r>
              <a:rPr lang="zh-CN" altLang="en-US" sz="2000" dirty="0" smtClean="0"/>
              <a:t>、南路实验楼</a:t>
            </a:r>
            <a:r>
              <a:rPr lang="en-US" altLang="zh-CN" sz="2000" dirty="0" smtClean="0"/>
              <a:t>302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484042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2292338" y="1428737"/>
            <a:ext cx="2089151" cy="4537075"/>
            <a:chOff x="-57" y="577"/>
            <a:chExt cx="1929" cy="3311"/>
          </a:xfrm>
        </p:grpSpPr>
        <p:sp>
          <p:nvSpPr>
            <p:cNvPr id="8" name="Arc 37"/>
            <p:cNvSpPr>
              <a:spLocks/>
            </p:cNvSpPr>
            <p:nvPr/>
          </p:nvSpPr>
          <p:spPr bwMode="auto">
            <a:xfrm>
              <a:off x="-56" y="672"/>
              <a:ext cx="1832" cy="3119"/>
            </a:xfrm>
            <a:custGeom>
              <a:avLst/>
              <a:gdLst>
                <a:gd name="T0" fmla="*/ 0 w 21600"/>
                <a:gd name="T1" fmla="*/ 0 h 43174"/>
                <a:gd name="T2" fmla="*/ 0 w 21600"/>
                <a:gd name="T3" fmla="*/ 0 h 43174"/>
                <a:gd name="T4" fmla="*/ 0 w 21600"/>
                <a:gd name="T5" fmla="*/ 0 h 431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4"/>
                <a:gd name="T11" fmla="*/ 21600 w 21600"/>
                <a:gd name="T12" fmla="*/ 43174 h 43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4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</a:path>
                <a:path w="21600" h="43174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76200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" name="Arc 38"/>
            <p:cNvSpPr>
              <a:spLocks/>
            </p:cNvSpPr>
            <p:nvPr/>
          </p:nvSpPr>
          <p:spPr bwMode="auto">
            <a:xfrm>
              <a:off x="-57" y="577"/>
              <a:ext cx="1929" cy="3311"/>
            </a:xfrm>
            <a:custGeom>
              <a:avLst/>
              <a:gdLst>
                <a:gd name="T0" fmla="*/ 0 w 21600"/>
                <a:gd name="T1" fmla="*/ 0 h 43180"/>
                <a:gd name="T2" fmla="*/ 0 w 21600"/>
                <a:gd name="T3" fmla="*/ 0 h 43180"/>
                <a:gd name="T4" fmla="*/ 0 w 21600"/>
                <a:gd name="T5" fmla="*/ 0 h 4318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0"/>
                <a:gd name="T11" fmla="*/ 21600 w 21600"/>
                <a:gd name="T12" fmla="*/ 43180 h 431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0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</a:path>
                <a:path w="21600" h="43180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25400">
              <a:solidFill>
                <a:srgbClr val="FF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41986" name="AutoShape 2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AutoShape 4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0" name="AutoShape 16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2" name="AutoShape 18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4" name="AutoShape 20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6" name="AutoShape 22" descr="http://read.html5.qq.com/image?src=forum&amp;q=5&amp;r=0&amp;imgflag=7&amp;imageUrl=http://mmbiz.qpic.cn/mmbiz/EQB7yFED1iaTzk42f5AQAZdTRVDG8hXiaGy1QvN0ibxoviajJF5xBvEWDp62OPicbfUAeaaWVulNuDm8Owbficb90cicg/0?wx_fmt=jpe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2226" name="Picture 2" descr="“the trust machine”的图片搜索结果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1" y="2404918"/>
            <a:ext cx="1928825" cy="1085978"/>
          </a:xfrm>
          <a:prstGeom prst="rect">
            <a:avLst/>
          </a:prstGeom>
          <a:noFill/>
        </p:spPr>
      </p:pic>
      <p:pic>
        <p:nvPicPr>
          <p:cNvPr id="52228" name="Picture 4" descr="“the trust machine”的图片搜索结果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9720" y="3857629"/>
            <a:ext cx="1928826" cy="1085978"/>
          </a:xfrm>
          <a:prstGeom prst="rect">
            <a:avLst/>
          </a:prstGeom>
          <a:noFill/>
        </p:spPr>
      </p:pic>
      <p:sp>
        <p:nvSpPr>
          <p:cNvPr id="15" name="标题">
            <a:extLst>
              <a:ext uri="{FF2B5EF4-FFF2-40B4-BE49-F238E27FC236}">
                <a16:creationId xmlns:a16="http://schemas.microsoft.com/office/drawing/2014/main" id="{BC5DCADB-1EC7-4B38-BC8B-02FAB186980D}"/>
              </a:ext>
            </a:extLst>
          </p:cNvPr>
          <p:cNvSpPr/>
          <p:nvPr/>
        </p:nvSpPr>
        <p:spPr>
          <a:xfrm>
            <a:off x="3748296" y="933453"/>
            <a:ext cx="6884208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algn="ctr"/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图数据库</a:t>
            </a:r>
            <a:r>
              <a:rPr lang="en-US" altLang="zh-CN" sz="3600" dirty="0" err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TuGraph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简介</a:t>
            </a:r>
            <a:endParaRPr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标题">
            <a:extLst>
              <a:ext uri="{FF2B5EF4-FFF2-40B4-BE49-F238E27FC236}">
                <a16:creationId xmlns:a16="http://schemas.microsoft.com/office/drawing/2014/main" id="{E13C425C-84F4-457C-842D-EE74EEDEA997}"/>
              </a:ext>
            </a:extLst>
          </p:cNvPr>
          <p:cNvSpPr/>
          <p:nvPr/>
        </p:nvSpPr>
        <p:spPr>
          <a:xfrm>
            <a:off x="4864106" y="1916832"/>
            <a:ext cx="5577154" cy="2917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 numCol="1">
            <a:spAutoFit/>
          </a:bodyPr>
          <a:lstStyle>
            <a:lvl1pPr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en-US" altLang="zh-CN" sz="2400" b="1" kern="0" dirty="0" err="1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TuGraph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概述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安装与启动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建模</a:t>
            </a:r>
            <a:r>
              <a:rPr lang="zh-CN" altLang="en-US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与</a:t>
            </a:r>
            <a:r>
              <a:rPr lang="zh-CN" altLang="en-US" sz="2400" b="1" kern="0" dirty="0" smtClean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</a:t>
            </a:r>
            <a:r>
              <a:rPr lang="zh-CN" altLang="en-US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导入</a:t>
            </a:r>
            <a:endParaRPr lang="en-US" altLang="zh-CN" sz="2400" b="1" kern="0" dirty="0" smtClean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存储过程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4643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图基础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043222" y="1253490"/>
            <a:ext cx="10084470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err="1"/>
              <a:t>TuGraph</a:t>
            </a:r>
            <a:r>
              <a:rPr lang="zh-CN" altLang="en-US" sz="2000" dirty="0"/>
              <a:t>采用属性图模型。图模型是对事物及其关联关系的建模，由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顶点（</a:t>
            </a:r>
            <a:r>
              <a:rPr lang="en-US" altLang="zh-CN" sz="2000" dirty="0"/>
              <a:t>vertices/nodes</a:t>
            </a:r>
            <a:r>
              <a:rPr lang="zh-CN" altLang="en-US" sz="2000" dirty="0"/>
              <a:t>）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边（</a:t>
            </a:r>
            <a:r>
              <a:rPr lang="en-US" altLang="zh-CN" sz="2000" dirty="0"/>
              <a:t>edges/relationships</a:t>
            </a:r>
            <a:r>
              <a:rPr lang="zh-CN" altLang="en-US" sz="2000" dirty="0"/>
              <a:t>）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属性（</a:t>
            </a:r>
            <a:r>
              <a:rPr lang="en-US" altLang="zh-CN" sz="2000" dirty="0"/>
              <a:t>property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组成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 smtClean="0"/>
              <a:t>参考资料：</a:t>
            </a:r>
            <a:r>
              <a:rPr lang="en-US" altLang="zh-CN" sz="2000" dirty="0"/>
              <a:t>https://blog.csdn.net/cacique111/article/details/126842771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99252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示例</a:t>
            </a:r>
            <a:r>
              <a:rPr lang="en-US" altLang="zh-CN" dirty="0" err="1"/>
              <a:t>yago</a:t>
            </a:r>
            <a:endParaRPr lang="zh-CN" altLang="en-US" dirty="0"/>
          </a:p>
        </p:txBody>
      </p:sp>
      <p:pic>
        <p:nvPicPr>
          <p:cNvPr id="2051" name="Picture 3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1412776"/>
            <a:ext cx="80010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066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示例</a:t>
            </a:r>
            <a:r>
              <a:rPr lang="en-US" altLang="zh-CN" dirty="0" err="1"/>
              <a:t>yago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263351" y="963909"/>
            <a:ext cx="11665296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err="1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yago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数据共包含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5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种顶点，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种边，共同描述电影和演员的基本关系，以及用户对电影的评分。</a:t>
            </a: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05046"/>
              </p:ext>
            </p:extLst>
          </p:nvPr>
        </p:nvGraphicFramePr>
        <p:xfrm>
          <a:off x="695398" y="1324155"/>
          <a:ext cx="10801201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23770916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402675444"/>
                    </a:ext>
                  </a:extLst>
                </a:gridCol>
                <a:gridCol w="7776865">
                  <a:extLst>
                    <a:ext uri="{9D8B030D-6E8A-4147-A177-3AD203B41FA5}">
                      <a16:colId xmlns:a16="http://schemas.microsoft.com/office/drawing/2014/main" val="2380435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1" dirty="0">
                          <a:solidFill>
                            <a:srgbClr val="4F4F4F"/>
                          </a:solidFill>
                          <a:effectLst/>
                        </a:rPr>
                        <a:t>标签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1" dirty="0">
                          <a:solidFill>
                            <a:srgbClr val="4F4F4F"/>
                          </a:solidFill>
                          <a:effectLst/>
                        </a:rPr>
                        <a:t>类型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1" dirty="0">
                          <a:solidFill>
                            <a:srgbClr val="4F4F4F"/>
                          </a:solidFill>
                          <a:effectLst/>
                        </a:rPr>
                        <a:t>说明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69464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>
                          <a:solidFill>
                            <a:srgbClr val="4F4F4F"/>
                          </a:solidFill>
                          <a:effectLst/>
                        </a:rPr>
                        <a:t>movie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实体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表示某一部具体的影片，比如</a:t>
                      </a:r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"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阿甘正传</a:t>
                      </a:r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"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5499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person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实体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表示个人，对影片来说可能是演员、导演，或编剧。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585675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genre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实体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表示影片的类型，比如剧情片、恐怖片。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0077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keyword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实体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表示与影片相关的一些关键字，比如</a:t>
                      </a:r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"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拯救世界</a:t>
                      </a:r>
                      <a:r>
                        <a:rPr lang="en-US" altLang="zh-CN" b="0" dirty="0">
                          <a:solidFill>
                            <a:srgbClr val="4F4F4F"/>
                          </a:solidFill>
                          <a:effectLst/>
                        </a:rPr>
                        <a:t>"</a:t>
                      </a:r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、“虚拟现实”、“地铁”。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844658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user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实体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表示观影的用户。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656328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produce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关系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表示影片的出品人关系。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60263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 err="1">
                          <a:solidFill>
                            <a:srgbClr val="4F4F4F"/>
                          </a:solidFill>
                          <a:effectLst/>
                        </a:rPr>
                        <a:t>acted_in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关系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表示演员出演了哪些影片。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706482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direct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关系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表示影片的导演是谁。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002565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write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关系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表示影片的编剧关系。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63223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 err="1">
                          <a:solidFill>
                            <a:srgbClr val="4F4F4F"/>
                          </a:solidFill>
                          <a:effectLst/>
                        </a:rPr>
                        <a:t>has_genre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关系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表示影片的类型分类。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83278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 err="1">
                          <a:solidFill>
                            <a:srgbClr val="4F4F4F"/>
                          </a:solidFill>
                          <a:effectLst/>
                        </a:rPr>
                        <a:t>has_keyword</a:t>
                      </a:r>
                      <a:endParaRPr lang="en-US" b="0" dirty="0">
                        <a:solidFill>
                          <a:srgbClr val="4F4F4F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关系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表示影片的一些关键字，即更细分类的标签。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65924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latinLnBrk="0"/>
                      <a:r>
                        <a:rPr lang="en-US" b="0" dirty="0">
                          <a:solidFill>
                            <a:srgbClr val="4F4F4F"/>
                          </a:solidFill>
                          <a:effectLst/>
                        </a:rPr>
                        <a:t>rate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>
                          <a:solidFill>
                            <a:srgbClr val="4F4F4F"/>
                          </a:solidFill>
                          <a:effectLst/>
                        </a:rPr>
                        <a:t>关系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b="0" dirty="0">
                          <a:solidFill>
                            <a:srgbClr val="4F4F4F"/>
                          </a:solidFill>
                          <a:effectLst/>
                        </a:rPr>
                        <a:t>表示用户对影片的打分。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418951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017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建模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271464" y="1196752"/>
            <a:ext cx="9649072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新建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子图</a:t>
            </a: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顶点标签：</a:t>
            </a:r>
            <a:r>
              <a:rPr lang="en-US" altLang="zh-CN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person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、</a:t>
            </a:r>
            <a:r>
              <a:rPr lang="en-US" altLang="zh-CN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movie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关系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标签：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produce</a:t>
            </a: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597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数据导</a:t>
            </a:r>
            <a:r>
              <a:rPr lang="zh-CN" altLang="en-US" dirty="0" smtClean="0"/>
              <a:t>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043222" y="1253490"/>
            <a:ext cx="10084470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在导入页面，我们可以上传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csv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文件在线导入数据，点击选择文件从电脑中选择</a:t>
            </a:r>
            <a:r>
              <a:rPr lang="en-US" altLang="zh-CN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csv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文件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，之后我们先要进行映射数据的操作，首先选择对应的模型（选择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movie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），点击映射数据，上面的表格是数据模型的属性、数据类型、是否选填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。</a:t>
            </a: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接下来我们映射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person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的数据，选择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person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的模型，点击映射数据，连线匹配，如果连线错误，可以选中这条线，点击删除线，重新连接，点击导入，导入成功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。</a:t>
            </a: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接下来我们映射边的数据，边的数据需要选择起点的挂载和终点的挂载，起点的挂载我们选择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person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的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id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，选择完之后表格会对应生成，终点的挂载选择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movie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的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id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，之后连接数据，点击确定，点击导入，导入数据成功。</a:t>
            </a: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449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TuGraph</a:t>
            </a:r>
            <a:r>
              <a:rPr lang="zh-CN" altLang="en-US" dirty="0"/>
              <a:t>的</a:t>
            </a:r>
            <a:r>
              <a:rPr lang="en-US" altLang="zh-CN" dirty="0"/>
              <a:t>bolt</a:t>
            </a:r>
            <a:r>
              <a:rPr lang="zh-CN" altLang="en-US" dirty="0"/>
              <a:t>端口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043222" y="1253490"/>
            <a:ext cx="10084470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err="1"/>
              <a:t>TuGraph</a:t>
            </a:r>
            <a:r>
              <a:rPr lang="zh-CN" altLang="en-US" sz="2000" dirty="0"/>
              <a:t>使用</a:t>
            </a:r>
            <a:r>
              <a:rPr lang="en-US" altLang="zh-CN" sz="2000" dirty="0"/>
              <a:t>Cypher</a:t>
            </a:r>
            <a:r>
              <a:rPr lang="zh-CN" altLang="en-US" sz="2000" dirty="0"/>
              <a:t>语言进行</a:t>
            </a:r>
            <a:r>
              <a:rPr lang="zh-CN" altLang="en-US" sz="2000" dirty="0" smtClean="0"/>
              <a:t>查询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err="1"/>
              <a:t>TuGraph</a:t>
            </a:r>
            <a:r>
              <a:rPr lang="en-US" altLang="zh-CN" sz="2000" dirty="0"/>
              <a:t> </a:t>
            </a:r>
            <a:r>
              <a:rPr lang="zh-CN" altLang="en-US" sz="2000" dirty="0"/>
              <a:t>的 ‌</a:t>
            </a:r>
            <a:r>
              <a:rPr lang="en-US" altLang="zh-CN" sz="2000" dirty="0"/>
              <a:t>Bolt </a:t>
            </a:r>
            <a:r>
              <a:rPr lang="zh-CN" altLang="en-US" sz="2000" dirty="0"/>
              <a:t>协议‌ 是其用于与客户端通信的核心接口，兼容 </a:t>
            </a:r>
            <a:r>
              <a:rPr lang="en-US" altLang="zh-CN" sz="2000" dirty="0"/>
              <a:t>Neo4j </a:t>
            </a:r>
            <a:r>
              <a:rPr lang="zh-CN" altLang="en-US" sz="2000" dirty="0"/>
              <a:t>的 </a:t>
            </a:r>
            <a:r>
              <a:rPr lang="en-US" altLang="zh-CN" sz="2000" dirty="0"/>
              <a:t>Bolt </a:t>
            </a:r>
            <a:r>
              <a:rPr lang="zh-CN" altLang="en-US" sz="2000" dirty="0"/>
              <a:t>协议，使开发者能够直接使用 </a:t>
            </a:r>
            <a:r>
              <a:rPr lang="en-US" altLang="zh-CN" sz="2000" dirty="0"/>
              <a:t>Neo4j </a:t>
            </a:r>
            <a:r>
              <a:rPr lang="zh-CN" altLang="en-US" sz="2000" dirty="0"/>
              <a:t>官方提供的多种语言驱动（如 </a:t>
            </a:r>
            <a:r>
              <a:rPr lang="en-US" altLang="zh-CN" sz="2000" dirty="0"/>
              <a:t>Python</a:t>
            </a:r>
            <a:r>
              <a:rPr lang="zh-CN" altLang="en-US" sz="2000" dirty="0"/>
              <a:t>、</a:t>
            </a:r>
            <a:r>
              <a:rPr lang="en-US" altLang="zh-CN" sz="2000" dirty="0"/>
              <a:t>Java</a:t>
            </a:r>
            <a:r>
              <a:rPr lang="zh-CN" altLang="en-US" sz="2000" dirty="0"/>
              <a:t>、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等）连接 </a:t>
            </a:r>
            <a:r>
              <a:rPr lang="en-US" altLang="zh-CN" sz="2000" dirty="0" err="1"/>
              <a:t>TuGraph</a:t>
            </a:r>
            <a:r>
              <a:rPr lang="en-US" altLang="zh-CN" sz="2000" dirty="0"/>
              <a:t> </a:t>
            </a:r>
            <a:r>
              <a:rPr lang="zh-CN" altLang="en-US" sz="2000" dirty="0"/>
              <a:t>数据库，无需额外开发适配层 </a:t>
            </a:r>
            <a:r>
              <a:rPr lang="zh-CN" altLang="en-US" sz="2000" dirty="0" smtClean="0"/>
              <a:t>‌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 smtClean="0"/>
              <a:t>开启</a:t>
            </a:r>
            <a:r>
              <a:rPr lang="en-US" altLang="zh-CN" sz="2000" dirty="0" smtClean="0"/>
              <a:t>Bolt</a:t>
            </a:r>
            <a:r>
              <a:rPr lang="zh-CN" altLang="en-US" sz="2000" dirty="0"/>
              <a:t>端口、使用</a:t>
            </a:r>
            <a:r>
              <a:rPr lang="zh-CN" altLang="en-US" sz="2000" dirty="0" smtClean="0"/>
              <a:t>示例：</a:t>
            </a:r>
            <a:r>
              <a:rPr lang="en-US" altLang="zh-CN" sz="2000" dirty="0" smtClean="0">
                <a:hlinkClick r:id="rId2"/>
              </a:rPr>
              <a:t>tugraph-db/docs/zh-CN/source/7.client-tools/5.bolt-client.md at master · </a:t>
            </a:r>
            <a:r>
              <a:rPr lang="en-US" altLang="zh-CN" sz="2000" dirty="0" err="1" smtClean="0">
                <a:hlinkClick r:id="rId2"/>
              </a:rPr>
              <a:t>TuGraph</a:t>
            </a:r>
            <a:r>
              <a:rPr lang="en-US" altLang="zh-CN" sz="2000" dirty="0" smtClean="0">
                <a:hlinkClick r:id="rId2"/>
              </a:rPr>
              <a:t>-family/</a:t>
            </a:r>
            <a:r>
              <a:rPr lang="en-US" altLang="zh-CN" sz="2000" dirty="0" err="1" smtClean="0">
                <a:hlinkClick r:id="rId2"/>
              </a:rPr>
              <a:t>tugraph-db</a:t>
            </a:r>
            <a:r>
              <a:rPr lang="en-US" altLang="zh-CN" sz="2000" dirty="0" smtClean="0">
                <a:hlinkClick r:id="rId2"/>
              </a:rPr>
              <a:t> (github.com)</a:t>
            </a:r>
            <a:endParaRPr lang="en-US" altLang="zh-CN" sz="20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 smtClean="0"/>
              <a:t>代码示例：</a:t>
            </a:r>
            <a:r>
              <a:rPr lang="en-US" altLang="zh-CN" sz="2000" dirty="0" smtClean="0"/>
              <a:t>ceshi_bolt.py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012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2292338" y="1428737"/>
            <a:ext cx="2089151" cy="4537075"/>
            <a:chOff x="-57" y="577"/>
            <a:chExt cx="1929" cy="3311"/>
          </a:xfrm>
        </p:grpSpPr>
        <p:sp>
          <p:nvSpPr>
            <p:cNvPr id="8" name="Arc 37"/>
            <p:cNvSpPr>
              <a:spLocks/>
            </p:cNvSpPr>
            <p:nvPr/>
          </p:nvSpPr>
          <p:spPr bwMode="auto">
            <a:xfrm>
              <a:off x="-56" y="672"/>
              <a:ext cx="1832" cy="3119"/>
            </a:xfrm>
            <a:custGeom>
              <a:avLst/>
              <a:gdLst>
                <a:gd name="T0" fmla="*/ 0 w 21600"/>
                <a:gd name="T1" fmla="*/ 0 h 43174"/>
                <a:gd name="T2" fmla="*/ 0 w 21600"/>
                <a:gd name="T3" fmla="*/ 0 h 43174"/>
                <a:gd name="T4" fmla="*/ 0 w 21600"/>
                <a:gd name="T5" fmla="*/ 0 h 431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4"/>
                <a:gd name="T11" fmla="*/ 21600 w 21600"/>
                <a:gd name="T12" fmla="*/ 43174 h 43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4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</a:path>
                <a:path w="21600" h="43174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162"/>
                    <a:pt x="12485" y="42677"/>
                    <a:pt x="927" y="43174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76200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" name="Arc 38"/>
            <p:cNvSpPr>
              <a:spLocks/>
            </p:cNvSpPr>
            <p:nvPr/>
          </p:nvSpPr>
          <p:spPr bwMode="auto">
            <a:xfrm>
              <a:off x="-57" y="577"/>
              <a:ext cx="1929" cy="3311"/>
            </a:xfrm>
            <a:custGeom>
              <a:avLst/>
              <a:gdLst>
                <a:gd name="T0" fmla="*/ 0 w 21600"/>
                <a:gd name="T1" fmla="*/ 0 h 43180"/>
                <a:gd name="T2" fmla="*/ 0 w 21600"/>
                <a:gd name="T3" fmla="*/ 0 h 43180"/>
                <a:gd name="T4" fmla="*/ 0 w 21600"/>
                <a:gd name="T5" fmla="*/ 0 h 4318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0"/>
                <a:gd name="T11" fmla="*/ 21600 w 21600"/>
                <a:gd name="T12" fmla="*/ 43180 h 431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0" fill="none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</a:path>
                <a:path w="21600" h="43180" stroke="0" extrusionOk="0">
                  <a:moveTo>
                    <a:pt x="526" y="0"/>
                  </a:moveTo>
                  <a:cubicBezTo>
                    <a:pt x="12247" y="286"/>
                    <a:pt x="21600" y="9869"/>
                    <a:pt x="21600" y="21594"/>
                  </a:cubicBezTo>
                  <a:cubicBezTo>
                    <a:pt x="21600" y="33223"/>
                    <a:pt x="12392" y="42765"/>
                    <a:pt x="771" y="43180"/>
                  </a:cubicBezTo>
                  <a:lnTo>
                    <a:pt x="0" y="21594"/>
                  </a:lnTo>
                  <a:close/>
                </a:path>
              </a:pathLst>
            </a:custGeom>
            <a:noFill/>
            <a:ln w="25400">
              <a:solidFill>
                <a:srgbClr val="FF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41986" name="AutoShape 2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AutoShape 4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0" name="AutoShape 16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2" name="AutoShape 18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4" name="AutoShape 20" descr="“区块链”的图片搜索结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06" name="AutoShape 22" descr="http://read.html5.qq.com/image?src=forum&amp;q=5&amp;r=0&amp;imgflag=7&amp;imageUrl=http://mmbiz.qpic.cn/mmbiz/EQB7yFED1iaTzk42f5AQAZdTRVDG8hXiaGy1QvN0ibxoviajJF5xBvEWDp62OPicbfUAeaaWVulNuDm8Owbficb90cicg/0?wx_fmt=jpe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2226" name="Picture 2" descr="“the trust machine”的图片搜索结果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1" y="2404918"/>
            <a:ext cx="1928825" cy="1085978"/>
          </a:xfrm>
          <a:prstGeom prst="rect">
            <a:avLst/>
          </a:prstGeom>
          <a:noFill/>
        </p:spPr>
      </p:pic>
      <p:pic>
        <p:nvPicPr>
          <p:cNvPr id="52228" name="Picture 4" descr="“the trust machine”的图片搜索结果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9720" y="3857629"/>
            <a:ext cx="1928826" cy="1085978"/>
          </a:xfrm>
          <a:prstGeom prst="rect">
            <a:avLst/>
          </a:prstGeom>
          <a:noFill/>
        </p:spPr>
      </p:pic>
      <p:sp>
        <p:nvSpPr>
          <p:cNvPr id="15" name="标题">
            <a:extLst>
              <a:ext uri="{FF2B5EF4-FFF2-40B4-BE49-F238E27FC236}">
                <a16:creationId xmlns:a16="http://schemas.microsoft.com/office/drawing/2014/main" id="{BC5DCADB-1EC7-4B38-BC8B-02FAB186980D}"/>
              </a:ext>
            </a:extLst>
          </p:cNvPr>
          <p:cNvSpPr/>
          <p:nvPr/>
        </p:nvSpPr>
        <p:spPr>
          <a:xfrm>
            <a:off x="3748296" y="933453"/>
            <a:ext cx="6884208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algn="ctr"/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图数据库</a:t>
            </a:r>
            <a:r>
              <a:rPr lang="en-US" altLang="zh-CN" sz="3600" dirty="0" err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TuGraph</a:t>
            </a:r>
            <a:r>
              <a:rPr lang="zh-CN" altLang="en-US" sz="3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简介</a:t>
            </a:r>
            <a:endParaRPr sz="3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标题">
            <a:extLst>
              <a:ext uri="{FF2B5EF4-FFF2-40B4-BE49-F238E27FC236}">
                <a16:creationId xmlns:a16="http://schemas.microsoft.com/office/drawing/2014/main" id="{E13C425C-84F4-457C-842D-EE74EEDEA997}"/>
              </a:ext>
            </a:extLst>
          </p:cNvPr>
          <p:cNvSpPr/>
          <p:nvPr/>
        </p:nvSpPr>
        <p:spPr>
          <a:xfrm>
            <a:off x="4864106" y="1916832"/>
            <a:ext cx="5577154" cy="2917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 numCol="1">
            <a:spAutoFit/>
          </a:bodyPr>
          <a:lstStyle>
            <a:lvl1pPr>
              <a:defRPr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en-US" altLang="zh-CN" sz="2400" b="1" kern="0" dirty="0" err="1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TuGraph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概述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安装与启动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建模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与</a:t>
            </a:r>
            <a:r>
              <a:rPr lang="zh-CN" altLang="en-US" sz="2400" b="1" kern="0" dirty="0" smtClean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</a:t>
            </a:r>
            <a:r>
              <a:rPr lang="zh-CN" altLang="en-US" sz="2400" b="1" kern="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导入</a:t>
            </a:r>
            <a:endParaRPr lang="en-US" altLang="zh-CN" sz="2400" b="1" kern="0" dirty="0" smtClean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42900" lvl="0" indent="-342900" fontAlgn="base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p"/>
              <a:defRPr/>
            </a:pPr>
            <a:r>
              <a:rPr lang="zh-CN" altLang="en-US" sz="2400" b="1" kern="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存储过程</a:t>
            </a:r>
            <a:endParaRPr lang="en-US" altLang="zh-CN" sz="2400" b="1" kern="0" dirty="0" smtClean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9664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TuGraph</a:t>
            </a:r>
            <a:r>
              <a:rPr lang="en-US" altLang="zh-CN" dirty="0" smtClean="0"/>
              <a:t> </a:t>
            </a:r>
            <a:r>
              <a:rPr lang="zh-CN" altLang="en-US" dirty="0"/>
              <a:t>的存储过程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B6D816-F906-EBB7-362A-3CB507BDDE33}"/>
              </a:ext>
            </a:extLst>
          </p:cNvPr>
          <p:cNvSpPr txBox="1">
            <a:spLocks/>
          </p:cNvSpPr>
          <p:nvPr/>
        </p:nvSpPr>
        <p:spPr bwMode="auto">
          <a:xfrm>
            <a:off x="1271464" y="1196752"/>
            <a:ext cx="9649072" cy="548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200">
                <a:solidFill>
                  <a:schemeClr val="tx1"/>
                </a:solidFill>
                <a:latin typeface="+mj-lt"/>
                <a:ea typeface="宋体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j-lt"/>
                <a:ea typeface="宋体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j-lt"/>
                <a:ea typeface="宋体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j-lt"/>
                <a:ea typeface="+mj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err="1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TuGraph</a:t>
            </a:r>
            <a:r>
              <a:rPr lang="en-US" altLang="zh-CN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的存储过程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Procedure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）是一种在服务器端执行复杂图查询或分析逻辑的机制，适用于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Cypher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语言难以表达或对性能要求较高的场景。</a:t>
            </a: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运行位置‌：在数据库服务器端执行，减少客户端与服务端交互次数。</a:t>
            </a: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支持语言‌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：‌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C++</a:t>
            </a:r>
            <a:r>
              <a:rPr lang="en-US" altLang="zh-CN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‌(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性能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最优，适合高性能图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算法</a:t>
            </a:r>
            <a:r>
              <a:rPr lang="en-US" altLang="zh-CN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)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、‌</a:t>
            </a:r>
            <a:r>
              <a:rPr lang="en-US" altLang="zh-CN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Python‌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（开发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便捷，支持 </a:t>
            </a:r>
            <a:r>
              <a:rPr lang="en-US" altLang="zh-CN" sz="20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NumPy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/Pandas 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）、</a:t>
            </a:r>
            <a:r>
              <a:rPr lang="en-US" altLang="zh-CN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Rust‌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（自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v3.5.1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起支持，兼顾内存安全与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高性能）</a:t>
            </a:r>
            <a:endParaRPr lang="en-US" altLang="zh-CN" sz="2000" dirty="0" smtClean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hlinkClick r:id="rId2"/>
              </a:rPr>
              <a:t>tugraph-db/docs/zh-CN/source/9.olap&amp;procedure/1.procedure/1.procedure.md at master · </a:t>
            </a:r>
            <a:r>
              <a:rPr lang="en-US" altLang="zh-CN" sz="2000" dirty="0" err="1">
                <a:hlinkClick r:id="rId2"/>
              </a:rPr>
              <a:t>TuGraph</a:t>
            </a:r>
            <a:r>
              <a:rPr lang="en-US" altLang="zh-CN" sz="2000" dirty="0">
                <a:hlinkClick r:id="rId2"/>
              </a:rPr>
              <a:t>-family/</a:t>
            </a:r>
            <a:r>
              <a:rPr lang="en-US" altLang="zh-CN" sz="2000" dirty="0" err="1">
                <a:hlinkClick r:id="rId2"/>
              </a:rPr>
              <a:t>tugraph-db</a:t>
            </a:r>
            <a:r>
              <a:rPr lang="en-US" altLang="zh-CN" sz="2000" dirty="0">
                <a:hlinkClick r:id="rId2"/>
              </a:rPr>
              <a:t> (github.com)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‌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编译与</a:t>
            </a:r>
            <a:r>
              <a:rPr lang="zh-CN" altLang="en-US" sz="2000" dirty="0" smtClean="0">
                <a:latin typeface="SimSun" panose="02010600030101010101" pitchFamily="2" charset="-122"/>
                <a:ea typeface="SimSun" panose="02010600030101010101" pitchFamily="2" charset="-122"/>
                <a:cs typeface="Times New Roman" pitchFamily="18" charset="0"/>
              </a:rPr>
              <a:t>加载（课堂演示）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代码示例：</a:t>
            </a:r>
            <a:r>
              <a:rPr lang="en-US" altLang="zh-CN" sz="2000" dirty="0" smtClean="0"/>
              <a:t>ceshi_bolt.py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217709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>
            <a:extLst>
              <a:ext uri="{FF2B5EF4-FFF2-40B4-BE49-F238E27FC236}">
                <a16:creationId xmlns:a16="http://schemas.microsoft.com/office/drawing/2014/main" id="{8FC42166-8861-4E7C-AAFF-9F3482F01EAC}"/>
              </a:ext>
            </a:extLst>
          </p:cNvPr>
          <p:cNvSpPr txBox="1"/>
          <p:nvPr/>
        </p:nvSpPr>
        <p:spPr>
          <a:xfrm>
            <a:off x="407368" y="2348880"/>
            <a:ext cx="11569700" cy="10242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66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</a:t>
            </a:r>
            <a:r>
              <a:rPr lang="zh-CN" altLang="en-US" sz="6600" b="1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！</a:t>
            </a:r>
            <a:endParaRPr lang="en-US" altLang="zh-CN" sz="6600" b="1" dirty="0" smtClean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中央财经大学 信息学院 </a:t>
            </a:r>
            <a:endParaRPr lang="en-US" altLang="zh-CN" sz="2000" dirty="0" smtClean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王卯</a:t>
            </a:r>
            <a:r>
              <a:rPr lang="zh-CN" altLang="en-US" sz="2000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宁 </a:t>
            </a:r>
            <a:r>
              <a:rPr lang="en-US" altLang="zh-CN" sz="2000" dirty="0" smtClean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13854139297@139.com</a:t>
            </a:r>
            <a:endParaRPr lang="zh-CN" altLang="en-US" sz="20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02658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25245</TotalTime>
  <Words>2272</Words>
  <Application>Microsoft Office PowerPoint</Application>
  <PresentationFormat>宽屏</PresentationFormat>
  <Paragraphs>194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Arial Unicode MS</vt:lpstr>
      <vt:lpstr>等线</vt:lpstr>
      <vt:lpstr>黑体</vt:lpstr>
      <vt:lpstr>黑体</vt:lpstr>
      <vt:lpstr>华文新魏</vt:lpstr>
      <vt:lpstr>楷体_GB2312</vt:lpstr>
      <vt:lpstr>SimSun</vt:lpstr>
      <vt:lpstr>SimSun</vt:lpstr>
      <vt:lpstr>微软雅黑</vt:lpstr>
      <vt:lpstr>微软雅黑</vt:lpstr>
      <vt:lpstr>Arial</vt:lpstr>
      <vt:lpstr>Calibri</vt:lpstr>
      <vt:lpstr>Times New Roman</vt:lpstr>
      <vt:lpstr>Wingdings</vt:lpstr>
      <vt:lpstr>1_Office 主题</vt:lpstr>
      <vt:lpstr>PowerPoint 演示文稿</vt:lpstr>
      <vt:lpstr>实验及作业安排</vt:lpstr>
      <vt:lpstr>作业1</vt:lpstr>
      <vt:lpstr>PowerPoint 演示文稿</vt:lpstr>
      <vt:lpstr>PowerPoint 演示文稿</vt:lpstr>
      <vt:lpstr>TuGraph概述</vt:lpstr>
      <vt:lpstr>PowerPoint 演示文稿</vt:lpstr>
      <vt:lpstr>启动TuGraph-方法1.在阿里云计算巢免费试用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启动TuGraph-方法2.在自己的电脑上安装TuGraph</vt:lpstr>
      <vt:lpstr>启动TuGraph-方法2.在自己的电脑上安装TuGraph</vt:lpstr>
      <vt:lpstr>Docker命令解析</vt:lpstr>
      <vt:lpstr>端口用途对照</vt:lpstr>
      <vt:lpstr>常见问题</vt:lpstr>
      <vt:lpstr>PowerPoint 演示文稿</vt:lpstr>
      <vt:lpstr>图基础</vt:lpstr>
      <vt:lpstr>示例yago</vt:lpstr>
      <vt:lpstr>示例yago</vt:lpstr>
      <vt:lpstr>建模</vt:lpstr>
      <vt:lpstr>数据导入</vt:lpstr>
      <vt:lpstr>TuGraph的bolt端口</vt:lpstr>
      <vt:lpstr>PowerPoint 演示文稿</vt:lpstr>
      <vt:lpstr>TuGraph 的存储过程</vt:lpstr>
      <vt:lpstr>PowerPoint 演示文稿</vt:lpstr>
    </vt:vector>
  </TitlesOfParts>
  <Company>xd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xd</dc:creator>
  <cp:lastModifiedBy>John</cp:lastModifiedBy>
  <cp:revision>2723</cp:revision>
  <cp:lastPrinted>2018-09-03T00:44:24Z</cp:lastPrinted>
  <dcterms:created xsi:type="dcterms:W3CDTF">2014-07-09T14:27:45Z</dcterms:created>
  <dcterms:modified xsi:type="dcterms:W3CDTF">2026-04-16T15:00:17Z</dcterms:modified>
</cp:coreProperties>
</file>